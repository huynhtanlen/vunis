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1689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784080" y="-914400"/>
            <a:ext cx="3840480" cy="3840480"/>
          </a:xfrm>
          <a:prstGeom prst="ellipse">
            <a:avLst/>
          </a:prstGeom>
          <a:solidFill>
            <a:srgbClr val="1E2761">
              <a:alpha val="60000"/>
            </a:srgbClr>
          </a:solidFill>
          <a:ln/>
        </p:spPr>
      </p:sp>
      <p:sp>
        <p:nvSpPr>
          <p:cNvPr id="3" name="Shape 1"/>
          <p:cNvSpPr/>
          <p:nvPr/>
        </p:nvSpPr>
        <p:spPr>
          <a:xfrm>
            <a:off x="10881360" y="3291840"/>
            <a:ext cx="2377440" cy="2377440"/>
          </a:xfrm>
          <a:prstGeom prst="ellipse">
            <a:avLst/>
          </a:prstGeom>
          <a:solidFill>
            <a:srgbClr val="F4B942">
              <a:alpha val="18000"/>
            </a:srgbClr>
          </a:solidFill>
          <a:ln/>
        </p:spPr>
      </p:sp>
      <p:sp>
        <p:nvSpPr>
          <p:cNvPr id="4" name="Shape 2"/>
          <p:cNvSpPr/>
          <p:nvPr/>
        </p:nvSpPr>
        <p:spPr>
          <a:xfrm>
            <a:off x="-1097280" y="4754880"/>
            <a:ext cx="3108960" cy="3108960"/>
          </a:xfrm>
          <a:prstGeom prst="ellipse">
            <a:avLst/>
          </a:prstGeom>
          <a:solidFill>
            <a:srgbClr val="1E2761">
              <a:alpha val="45000"/>
            </a:srgbClr>
          </a:solidFill>
          <a:ln/>
        </p:spPr>
      </p:sp>
      <p:sp>
        <p:nvSpPr>
          <p:cNvPr id="5" name="Text 3"/>
          <p:cNvSpPr/>
          <p:nvPr/>
        </p:nvSpPr>
        <p:spPr>
          <a:xfrm>
            <a:off x="822960" y="1417320"/>
            <a:ext cx="7315200" cy="365760"/>
          </a:xfrm>
          <a:prstGeom prst="rect">
            <a:avLst/>
          </a:prstGeom>
          <a:noFill/>
          <a:ln/>
        </p:spPr>
        <p:txBody>
          <a:bodyPr wrap="square" lIns="0" tIns="0" rIns="0" bIns="0" rtlCol="0" anchor="ctr"/>
          <a:lstStyle/>
          <a:p>
            <a:pPr marL="0" indent="0">
              <a:buNone/>
            </a:pPr>
            <a:r>
              <a:rPr lang="en-US" sz="1300" b="1" kern="0" spc="300" dirty="0">
                <a:solidFill>
                  <a:srgbClr val="F4B942"/>
                </a:solidFill>
                <a:latin typeface="Calibri" pitchFamily="34" charset="0"/>
                <a:ea typeface="Calibri" pitchFamily="34" charset="-122"/>
                <a:cs typeface="Calibri" pitchFamily="34" charset="-120"/>
              </a:rPr>
              <a:t>Môn </a:t>
            </a:r>
            <a:r>
              <a:rPr lang="en-US" sz="1300" b="1" kern="0" spc="300" dirty="0" err="1">
                <a:solidFill>
                  <a:srgbClr val="F4B942"/>
                </a:solidFill>
                <a:latin typeface="Calibri" pitchFamily="34" charset="0"/>
                <a:ea typeface="Calibri" pitchFamily="34" charset="-122"/>
                <a:cs typeface="Calibri" pitchFamily="34" charset="-120"/>
              </a:rPr>
              <a:t>học</a:t>
            </a:r>
            <a:r>
              <a:rPr lang="en-US" sz="1300" b="1" kern="0" spc="300" dirty="0">
                <a:solidFill>
                  <a:srgbClr val="F4B942"/>
                </a:solidFill>
                <a:latin typeface="Calibri" pitchFamily="34" charset="0"/>
                <a:ea typeface="Calibri" pitchFamily="34" charset="-122"/>
                <a:cs typeface="Calibri" pitchFamily="34" charset="-120"/>
              </a:rPr>
              <a:t>: CHUYÊN ĐỀ REACT VÀ NODEJS</a:t>
            </a:r>
            <a:endParaRPr lang="en-US" sz="1300" dirty="0"/>
          </a:p>
        </p:txBody>
      </p:sp>
      <p:sp>
        <p:nvSpPr>
          <p:cNvPr id="6" name="Text 4"/>
          <p:cNvSpPr/>
          <p:nvPr/>
        </p:nvSpPr>
        <p:spPr>
          <a:xfrm>
            <a:off x="777240" y="1783080"/>
            <a:ext cx="8229600" cy="137160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VUNIS</a:t>
            </a:r>
            <a:endParaRPr lang="en-US" sz="7200" dirty="0"/>
          </a:p>
        </p:txBody>
      </p:sp>
      <p:sp>
        <p:nvSpPr>
          <p:cNvPr id="7" name="Text 5"/>
          <p:cNvSpPr/>
          <p:nvPr/>
        </p:nvSpPr>
        <p:spPr>
          <a:xfrm>
            <a:off x="822960" y="3063240"/>
            <a:ext cx="7863840" cy="54864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Project Management System</a:t>
            </a:r>
            <a:endParaRPr lang="en-US" sz="2000" dirty="0"/>
          </a:p>
        </p:txBody>
      </p:sp>
      <p:sp>
        <p:nvSpPr>
          <p:cNvPr id="8" name="Text 6"/>
          <p:cNvSpPr/>
          <p:nvPr/>
        </p:nvSpPr>
        <p:spPr>
          <a:xfrm>
            <a:off x="822960" y="3520440"/>
            <a:ext cx="7863840" cy="365760"/>
          </a:xfrm>
          <a:prstGeom prst="rect">
            <a:avLst/>
          </a:prstGeom>
          <a:noFill/>
          <a:ln/>
        </p:spPr>
        <p:txBody>
          <a:bodyPr wrap="square" lIns="0" tIns="0" rIns="0" bIns="0" rtlCol="0" anchor="ctr"/>
          <a:lstStyle/>
          <a:p>
            <a:r>
              <a:rPr lang="en-US" sz="2000" dirty="0" err="1">
                <a:solidFill>
                  <a:srgbClr val="CADCFC"/>
                </a:solidFill>
                <a:latin typeface="Calibri" pitchFamily="34" charset="0"/>
                <a:ea typeface="Calibri" pitchFamily="34" charset="-122"/>
                <a:cs typeface="Calibri" pitchFamily="34" charset="-120"/>
              </a:rPr>
              <a:t>Tên</a:t>
            </a:r>
            <a:r>
              <a:rPr lang="en-US" sz="2000" dirty="0">
                <a:solidFill>
                  <a:srgbClr val="CADCFC"/>
                </a:solidFill>
                <a:latin typeface="Calibri" pitchFamily="34" charset="0"/>
                <a:ea typeface="Calibri" pitchFamily="34" charset="-122"/>
                <a:cs typeface="Calibri" pitchFamily="34" charset="-120"/>
              </a:rPr>
              <a:t> </a:t>
            </a:r>
            <a:r>
              <a:rPr lang="en-US" sz="2000" dirty="0" err="1">
                <a:solidFill>
                  <a:srgbClr val="CADCFC"/>
                </a:solidFill>
                <a:latin typeface="Calibri" pitchFamily="34" charset="0"/>
                <a:ea typeface="Calibri" pitchFamily="34" charset="-122"/>
                <a:cs typeface="Calibri" pitchFamily="34" charset="-120"/>
              </a:rPr>
              <a:t>đề</a:t>
            </a:r>
            <a:r>
              <a:rPr lang="en-US" sz="2000" dirty="0">
                <a:solidFill>
                  <a:srgbClr val="CADCFC"/>
                </a:solidFill>
                <a:latin typeface="Calibri" pitchFamily="34" charset="0"/>
                <a:ea typeface="Calibri" pitchFamily="34" charset="-122"/>
                <a:cs typeface="Calibri" pitchFamily="34" charset="-120"/>
              </a:rPr>
              <a:t> </a:t>
            </a:r>
            <a:r>
              <a:rPr lang="en-US" sz="2000" dirty="0" err="1">
                <a:solidFill>
                  <a:srgbClr val="CADCFC"/>
                </a:solidFill>
                <a:latin typeface="Calibri" pitchFamily="34" charset="0"/>
                <a:ea typeface="Calibri" pitchFamily="34" charset="-122"/>
                <a:cs typeface="Calibri" pitchFamily="34" charset="-120"/>
              </a:rPr>
              <a:t>tài</a:t>
            </a:r>
            <a:r>
              <a:rPr lang="en-US" sz="2000" dirty="0">
                <a:solidFill>
                  <a:srgbClr val="CADCFC"/>
                </a:solidFill>
                <a:latin typeface="Calibri" pitchFamily="34" charset="0"/>
                <a:ea typeface="Calibri" pitchFamily="34" charset="-122"/>
                <a:cs typeface="Calibri" pitchFamily="34" charset="-120"/>
              </a:rPr>
              <a:t>: </a:t>
            </a:r>
            <a:r>
              <a:rPr lang="en-US" sz="2000" dirty="0" err="1">
                <a:solidFill>
                  <a:srgbClr val="CADCFC"/>
                </a:solidFill>
                <a:latin typeface="Calibri" pitchFamily="34" charset="0"/>
                <a:ea typeface="Calibri" pitchFamily="34" charset="-122"/>
                <a:cs typeface="Calibri" pitchFamily="34" charset="-120"/>
              </a:rPr>
              <a:t>Hệ</a:t>
            </a:r>
            <a:r>
              <a:rPr lang="en-US" sz="2000" dirty="0">
                <a:solidFill>
                  <a:srgbClr val="CADCFC"/>
                </a:solidFill>
                <a:latin typeface="Calibri" pitchFamily="34" charset="0"/>
                <a:ea typeface="Calibri" pitchFamily="34" charset="-122"/>
                <a:cs typeface="Calibri" pitchFamily="34" charset="-120"/>
              </a:rPr>
              <a:t> thống Quản lý </a:t>
            </a:r>
            <a:r>
              <a:rPr lang="en-US" sz="2000" dirty="0" err="1">
                <a:solidFill>
                  <a:srgbClr val="CADCFC"/>
                </a:solidFill>
                <a:latin typeface="Calibri" pitchFamily="34" charset="0"/>
                <a:ea typeface="Calibri" pitchFamily="34" charset="-122"/>
                <a:cs typeface="Calibri" pitchFamily="34" charset="-120"/>
              </a:rPr>
              <a:t>Dự</a:t>
            </a:r>
            <a:r>
              <a:rPr lang="en-US" sz="2000" dirty="0">
                <a:solidFill>
                  <a:srgbClr val="CADCFC"/>
                </a:solidFill>
                <a:latin typeface="Calibri" pitchFamily="34" charset="0"/>
                <a:ea typeface="Calibri" pitchFamily="34" charset="-122"/>
                <a:cs typeface="Calibri" pitchFamily="34" charset="-120"/>
              </a:rPr>
              <a:t> </a:t>
            </a:r>
            <a:r>
              <a:rPr lang="en-US" sz="2000" dirty="0" err="1">
                <a:solidFill>
                  <a:srgbClr val="CADCFC"/>
                </a:solidFill>
                <a:latin typeface="Calibri" pitchFamily="34" charset="0"/>
                <a:ea typeface="Calibri" pitchFamily="34" charset="-122"/>
                <a:cs typeface="Calibri" pitchFamily="34" charset="-120"/>
              </a:rPr>
              <a:t>án</a:t>
            </a:r>
            <a:endParaRPr lang="en-US" sz="2000" dirty="0">
              <a:solidFill>
                <a:srgbClr val="CADCFC"/>
              </a:solidFill>
              <a:latin typeface="Calibri" pitchFamily="34" charset="0"/>
              <a:ea typeface="Calibri" pitchFamily="34" charset="-122"/>
              <a:cs typeface="Calibri" pitchFamily="34" charset="-120"/>
            </a:endParaRPr>
          </a:p>
        </p:txBody>
      </p:sp>
      <p:sp>
        <p:nvSpPr>
          <p:cNvPr id="9" name="Shape 7"/>
          <p:cNvSpPr/>
          <p:nvPr/>
        </p:nvSpPr>
        <p:spPr>
          <a:xfrm>
            <a:off x="822960" y="4434840"/>
            <a:ext cx="7498080" cy="1600200"/>
          </a:xfrm>
          <a:prstGeom prst="rect">
            <a:avLst/>
          </a:prstGeom>
          <a:solidFill>
            <a:srgbClr val="FFFFFF">
              <a:alpha val="5000"/>
            </a:srgbClr>
          </a:solidFill>
          <a:ln w="12700">
            <a:solidFill>
              <a:srgbClr val="3B4680"/>
            </a:solidFill>
            <a:prstDash val="solid"/>
          </a:ln>
        </p:spPr>
        <p:txBody>
          <a:bodyPr/>
          <a:lstStyle/>
          <a:p>
            <a:endParaRPr lang="vi-VN" dirty="0"/>
          </a:p>
        </p:txBody>
      </p:sp>
      <p:sp>
        <p:nvSpPr>
          <p:cNvPr id="10" name="Text 8"/>
          <p:cNvSpPr/>
          <p:nvPr/>
        </p:nvSpPr>
        <p:spPr>
          <a:xfrm>
            <a:off x="1097280" y="4599432"/>
            <a:ext cx="3291840" cy="274320"/>
          </a:xfrm>
          <a:prstGeom prst="rect">
            <a:avLst/>
          </a:prstGeom>
          <a:noFill/>
          <a:ln/>
        </p:spPr>
        <p:txBody>
          <a:bodyPr wrap="square" lIns="0" tIns="0" rIns="0" bIns="0" rtlCol="0" anchor="ctr"/>
          <a:lstStyle/>
          <a:p>
            <a:pPr marL="0" indent="0">
              <a:buNone/>
            </a:pPr>
            <a:r>
              <a:rPr lang="en-US" sz="1100" b="1" kern="0" spc="150" dirty="0">
                <a:solidFill>
                  <a:srgbClr val="F4B942"/>
                </a:solidFill>
                <a:latin typeface="Calibri" pitchFamily="34" charset="0"/>
                <a:ea typeface="Calibri" pitchFamily="34" charset="-122"/>
                <a:cs typeface="Calibri" pitchFamily="34" charset="-120"/>
              </a:rPr>
              <a:t>NHÓM THỰC HIỆN</a:t>
            </a:r>
            <a:endParaRPr lang="en-US" sz="1100" dirty="0"/>
          </a:p>
        </p:txBody>
      </p:sp>
      <p:sp>
        <p:nvSpPr>
          <p:cNvPr id="11" name="Text 9"/>
          <p:cNvSpPr/>
          <p:nvPr/>
        </p:nvSpPr>
        <p:spPr>
          <a:xfrm>
            <a:off x="1097280" y="4873752"/>
            <a:ext cx="347472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Huỳnh </a:t>
            </a:r>
            <a:r>
              <a:rPr lang="en-US" sz="1700" b="1" dirty="0" err="1">
                <a:solidFill>
                  <a:srgbClr val="FFFFFF"/>
                </a:solidFill>
                <a:latin typeface="Cambria" pitchFamily="34" charset="0"/>
                <a:ea typeface="Cambria" pitchFamily="34" charset="-122"/>
                <a:cs typeface="Cambria" pitchFamily="34" charset="-120"/>
              </a:rPr>
              <a:t>Tấn</a:t>
            </a:r>
            <a:r>
              <a:rPr lang="en-US" sz="1700" b="1" dirty="0">
                <a:solidFill>
                  <a:srgbClr val="FFFFFF"/>
                </a:solidFill>
                <a:latin typeface="Cambria" pitchFamily="34" charset="0"/>
                <a:ea typeface="Cambria" pitchFamily="34" charset="-122"/>
                <a:cs typeface="Cambria" pitchFamily="34" charset="-120"/>
              </a:rPr>
              <a:t> </a:t>
            </a:r>
            <a:r>
              <a:rPr lang="en-US" sz="1700" b="1" dirty="0" err="1">
                <a:solidFill>
                  <a:srgbClr val="FFFFFF"/>
                </a:solidFill>
                <a:latin typeface="Cambria" pitchFamily="34" charset="0"/>
                <a:ea typeface="Cambria" pitchFamily="34" charset="-122"/>
                <a:cs typeface="Cambria" pitchFamily="34" charset="-120"/>
              </a:rPr>
              <a:t>Lên</a:t>
            </a:r>
            <a:r>
              <a:rPr lang="en-US" sz="1700" b="1" dirty="0">
                <a:solidFill>
                  <a:srgbClr val="FFFFFF"/>
                </a:solidFill>
                <a:latin typeface="Cambria" pitchFamily="34" charset="0"/>
                <a:ea typeface="Cambria" pitchFamily="34" charset="-122"/>
                <a:cs typeface="Cambria" pitchFamily="34" charset="-120"/>
              </a:rPr>
              <a:t> - 2311553138</a:t>
            </a:r>
            <a:endParaRPr lang="en-US" sz="1700" dirty="0"/>
          </a:p>
        </p:txBody>
      </p:sp>
      <p:sp>
        <p:nvSpPr>
          <p:cNvPr id="12" name="Text 10"/>
          <p:cNvSpPr/>
          <p:nvPr/>
        </p:nvSpPr>
        <p:spPr>
          <a:xfrm>
            <a:off x="1097280" y="5257800"/>
            <a:ext cx="379476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Nguyễn Đình Bảo </a:t>
            </a:r>
            <a:r>
              <a:rPr lang="en-US" sz="1700" b="1" dirty="0" err="1">
                <a:solidFill>
                  <a:srgbClr val="FFFFFF"/>
                </a:solidFill>
                <a:latin typeface="Cambria" pitchFamily="34" charset="0"/>
                <a:ea typeface="Cambria" pitchFamily="34" charset="-122"/>
                <a:cs typeface="Cambria" pitchFamily="34" charset="-120"/>
              </a:rPr>
              <a:t>Trâm</a:t>
            </a:r>
            <a:r>
              <a:rPr lang="en-US" sz="1700" b="1" dirty="0">
                <a:solidFill>
                  <a:srgbClr val="FFFFFF"/>
                </a:solidFill>
                <a:latin typeface="Cambria" pitchFamily="34" charset="0"/>
                <a:ea typeface="Cambria" pitchFamily="34" charset="-122"/>
                <a:cs typeface="Cambria" pitchFamily="34" charset="-120"/>
              </a:rPr>
              <a:t> - 2311555660</a:t>
            </a:r>
            <a:endParaRPr lang="en-US" sz="1700" dirty="0"/>
          </a:p>
        </p:txBody>
      </p:sp>
      <p:sp>
        <p:nvSpPr>
          <p:cNvPr id="13" name="Shape 11"/>
          <p:cNvSpPr/>
          <p:nvPr/>
        </p:nvSpPr>
        <p:spPr>
          <a:xfrm>
            <a:off x="4892040" y="4617720"/>
            <a:ext cx="0" cy="1234440"/>
          </a:xfrm>
          <a:prstGeom prst="line">
            <a:avLst/>
          </a:prstGeom>
          <a:noFill/>
          <a:ln w="12700">
            <a:solidFill>
              <a:srgbClr val="3B4680"/>
            </a:solidFill>
            <a:prstDash val="solid"/>
          </a:ln>
        </p:spPr>
      </p:sp>
      <p:sp>
        <p:nvSpPr>
          <p:cNvPr id="14" name="Text 12"/>
          <p:cNvSpPr/>
          <p:nvPr/>
        </p:nvSpPr>
        <p:spPr>
          <a:xfrm>
            <a:off x="5166360" y="4599432"/>
            <a:ext cx="3017520" cy="274320"/>
          </a:xfrm>
          <a:prstGeom prst="rect">
            <a:avLst/>
          </a:prstGeom>
          <a:noFill/>
          <a:ln/>
        </p:spPr>
        <p:txBody>
          <a:bodyPr wrap="square" lIns="0" tIns="0" rIns="0" bIns="0" rtlCol="0" anchor="ctr"/>
          <a:lstStyle/>
          <a:p>
            <a:pPr marL="0" indent="0">
              <a:buNone/>
            </a:pPr>
            <a:r>
              <a:rPr lang="en-US" sz="1100" b="1" kern="0" spc="150" dirty="0">
                <a:solidFill>
                  <a:srgbClr val="F4B942"/>
                </a:solidFill>
                <a:latin typeface="Calibri" pitchFamily="34" charset="0"/>
                <a:ea typeface="Calibri" pitchFamily="34" charset="-122"/>
                <a:cs typeface="Calibri" pitchFamily="34" charset="-120"/>
              </a:rPr>
              <a:t>GIÁO VIÊN HƯỚNG DẪN</a:t>
            </a:r>
            <a:endParaRPr lang="en-US" sz="1100" dirty="0"/>
          </a:p>
        </p:txBody>
      </p:sp>
      <p:sp>
        <p:nvSpPr>
          <p:cNvPr id="15" name="Text 13"/>
          <p:cNvSpPr/>
          <p:nvPr/>
        </p:nvSpPr>
        <p:spPr>
          <a:xfrm>
            <a:off x="5166360" y="4937760"/>
            <a:ext cx="3017520" cy="457200"/>
          </a:xfrm>
          <a:prstGeom prst="rect">
            <a:avLst/>
          </a:prstGeom>
          <a:noFill/>
          <a:ln/>
        </p:spPr>
        <p:txBody>
          <a:bodyPr wrap="square" lIns="0" tIns="0" rIns="0" bIns="0" rtlCol="0" anchor="ctr"/>
          <a:lstStyle/>
          <a:p>
            <a:pPr marL="0" indent="0">
              <a:buNone/>
            </a:pPr>
            <a:r>
              <a:rPr lang="en-US" sz="1700" b="1" dirty="0" err="1">
                <a:solidFill>
                  <a:srgbClr val="FFFFFF"/>
                </a:solidFill>
                <a:latin typeface="Cambria" pitchFamily="34" charset="0"/>
                <a:ea typeface="Cambria" pitchFamily="34" charset="-122"/>
                <a:cs typeface="Cambria" pitchFamily="34" charset="-120"/>
              </a:rPr>
              <a:t>Thầy</a:t>
            </a:r>
            <a:r>
              <a:rPr lang="en-US" sz="1700" b="1" dirty="0">
                <a:solidFill>
                  <a:srgbClr val="FFFFFF"/>
                </a:solidFill>
                <a:latin typeface="Cambria" pitchFamily="34" charset="0"/>
                <a:ea typeface="Cambria" pitchFamily="34" charset="-122"/>
                <a:cs typeface="Cambria" pitchFamily="34" charset="-120"/>
              </a:rPr>
              <a:t> </a:t>
            </a:r>
            <a:r>
              <a:rPr lang="en-US" sz="1700" b="1" dirty="0" err="1">
                <a:solidFill>
                  <a:srgbClr val="FFFFFF"/>
                </a:solidFill>
                <a:latin typeface="Cambria" pitchFamily="34" charset="0"/>
                <a:ea typeface="Cambria" pitchFamily="34" charset="-122"/>
                <a:cs typeface="Cambria" pitchFamily="34" charset="-120"/>
              </a:rPr>
              <a:t>ThS</a:t>
            </a:r>
            <a:r>
              <a:rPr lang="en-US" sz="1700" b="1" dirty="0">
                <a:solidFill>
                  <a:srgbClr val="FFFFFF"/>
                </a:solidFill>
                <a:latin typeface="Cambria" pitchFamily="34" charset="0"/>
                <a:ea typeface="Cambria" pitchFamily="34" charset="-122"/>
                <a:cs typeface="Cambria" pitchFamily="34" charset="-120"/>
              </a:rPr>
              <a:t>. Lý Quang Vinh</a:t>
            </a:r>
            <a:endParaRPr lang="en-US" sz="1700" dirty="0"/>
          </a:p>
        </p:txBody>
      </p:sp>
      <p:sp>
        <p:nvSpPr>
          <p:cNvPr id="16" name="Text 14"/>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C9BC9"/>
                </a:solidFill>
                <a:latin typeface="Calibri" pitchFamily="34" charset="0"/>
                <a:ea typeface="Calibri" pitchFamily="34" charset="-122"/>
                <a:cs typeface="Calibri" pitchFamily="34" charset="-120"/>
              </a:rPr>
              <a:t>VUNIS — Project Management System</a:t>
            </a:r>
            <a:endParaRPr lang="en-US" sz="900" dirty="0"/>
          </a:p>
        </p:txBody>
      </p:sp>
      <p:sp>
        <p:nvSpPr>
          <p:cNvPr id="17" name="Text 15"/>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8C9BC9"/>
                </a:solidFill>
                <a:latin typeface="Calibri" pitchFamily="34" charset="0"/>
                <a:ea typeface="Calibri" pitchFamily="34" charset="-122"/>
                <a:cs typeface="Calibri" pitchFamily="34" charset="-120"/>
              </a:rPr>
              <a:t>01</a:t>
            </a:r>
            <a:endParaRPr lang="en-US" sz="900" dirty="0"/>
          </a:p>
        </p:txBody>
      </p:sp>
      <p:pic>
        <p:nvPicPr>
          <p:cNvPr id="900" name="NTT University Logo"/>
          <p:cNvPicPr>
            <a:picLocks noChangeAspect="1"/>
          </p:cNvPicPr>
          <p:nvPr/>
        </p:nvPicPr>
        <p:blipFill>
          <a:blip r:embed="rId3"/>
          <a:stretch>
            <a:fillRect/>
          </a:stretch>
        </p:blipFill>
        <p:spPr>
          <a:xfrm>
            <a:off x="10164932" y="182880"/>
            <a:ext cx="1844188" cy="18441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0332720" y="-1188720"/>
            <a:ext cx="3291840" cy="3291840"/>
          </a:xfrm>
          <a:prstGeom prst="ellipse">
            <a:avLst/>
          </a:prstGeom>
          <a:solidFill>
            <a:srgbClr val="1E2761">
              <a:alpha val="60000"/>
            </a:srgbClr>
          </a:solidFill>
          <a:ln/>
        </p:spPr>
      </p:sp>
      <p:sp>
        <p:nvSpPr>
          <p:cNvPr id="3" name="Shape 1"/>
          <p:cNvSpPr/>
          <p:nvPr/>
        </p:nvSpPr>
        <p:spPr>
          <a:xfrm>
            <a:off x="-1280160" y="5120640"/>
            <a:ext cx="2926080" cy="2926080"/>
          </a:xfrm>
          <a:prstGeom prst="ellipse">
            <a:avLst/>
          </a:prstGeom>
          <a:solidFill>
            <a:srgbClr val="1E2761">
              <a:alpha val="45000"/>
            </a:srgbClr>
          </a:solidFill>
          <a:ln/>
        </p:spPr>
      </p:sp>
      <p:sp>
        <p:nvSpPr>
          <p:cNvPr id="4" name="Text 2"/>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F4B942"/>
                </a:solidFill>
                <a:latin typeface="Calibri" pitchFamily="34" charset="0"/>
                <a:ea typeface="Calibri" pitchFamily="34" charset="-122"/>
                <a:cs typeface="Calibri" pitchFamily="34" charset="-120"/>
              </a:rPr>
              <a:t>NỘI DUNG TRÌNH BÀY</a:t>
            </a:r>
            <a:endParaRPr lang="en-US" sz="1200" dirty="0"/>
          </a:p>
        </p:txBody>
      </p:sp>
      <p:sp>
        <p:nvSpPr>
          <p:cNvPr id="5" name="Text 3"/>
          <p:cNvSpPr/>
          <p:nvPr/>
        </p:nvSpPr>
        <p:spPr>
          <a:xfrm>
            <a:off x="640080" y="77724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Agenda</a:t>
            </a:r>
            <a:endParaRPr lang="en-US" sz="3000" dirty="0"/>
          </a:p>
        </p:txBody>
      </p:sp>
      <p:sp>
        <p:nvSpPr>
          <p:cNvPr id="6" name="Shape 4"/>
          <p:cNvSpPr/>
          <p:nvPr/>
        </p:nvSpPr>
        <p:spPr>
          <a:xfrm>
            <a:off x="640080" y="1691640"/>
            <a:ext cx="5440680" cy="1078992"/>
          </a:xfrm>
          <a:prstGeom prst="rect">
            <a:avLst/>
          </a:prstGeom>
          <a:solidFill>
            <a:srgbClr val="FFFFFF">
              <a:alpha val="5000"/>
            </a:srgbClr>
          </a:solidFill>
          <a:ln w="9525">
            <a:solidFill>
              <a:srgbClr val="3B4680"/>
            </a:solidFill>
            <a:prstDash val="solid"/>
          </a:ln>
        </p:spPr>
      </p:sp>
      <p:sp>
        <p:nvSpPr>
          <p:cNvPr id="7" name="Text 5"/>
          <p:cNvSpPr/>
          <p:nvPr/>
        </p:nvSpPr>
        <p:spPr>
          <a:xfrm>
            <a:off x="822960" y="1691640"/>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01</a:t>
            </a:r>
            <a:endParaRPr lang="en-US" sz="2600" dirty="0"/>
          </a:p>
        </p:txBody>
      </p:sp>
      <p:sp>
        <p:nvSpPr>
          <p:cNvPr id="8" name="Text 6"/>
          <p:cNvSpPr/>
          <p:nvPr/>
        </p:nvSpPr>
        <p:spPr>
          <a:xfrm>
            <a:off x="1737360" y="1828800"/>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Giới thiệu dự án</a:t>
            </a:r>
            <a:endParaRPr lang="en-US" sz="1400" dirty="0"/>
          </a:p>
        </p:txBody>
      </p:sp>
      <p:sp>
        <p:nvSpPr>
          <p:cNvPr id="9" name="Text 7"/>
          <p:cNvSpPr/>
          <p:nvPr/>
        </p:nvSpPr>
        <p:spPr>
          <a:xfrm>
            <a:off x="1737360" y="2221992"/>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Bài toán, mục tiêu và đối tượng sử dụng</a:t>
            </a:r>
            <a:endParaRPr lang="en-US" sz="1000" dirty="0"/>
          </a:p>
        </p:txBody>
      </p:sp>
      <p:sp>
        <p:nvSpPr>
          <p:cNvPr id="10" name="Shape 8"/>
          <p:cNvSpPr/>
          <p:nvPr/>
        </p:nvSpPr>
        <p:spPr>
          <a:xfrm>
            <a:off x="6355080" y="1691640"/>
            <a:ext cx="5440680" cy="1078992"/>
          </a:xfrm>
          <a:prstGeom prst="rect">
            <a:avLst/>
          </a:prstGeom>
          <a:solidFill>
            <a:srgbClr val="FFFFFF">
              <a:alpha val="5000"/>
            </a:srgbClr>
          </a:solidFill>
          <a:ln w="9525">
            <a:solidFill>
              <a:srgbClr val="3B4680"/>
            </a:solidFill>
            <a:prstDash val="solid"/>
          </a:ln>
        </p:spPr>
      </p:sp>
      <p:sp>
        <p:nvSpPr>
          <p:cNvPr id="11" name="Text 9"/>
          <p:cNvSpPr/>
          <p:nvPr/>
        </p:nvSpPr>
        <p:spPr>
          <a:xfrm>
            <a:off x="6537960" y="1691640"/>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02</a:t>
            </a:r>
            <a:endParaRPr lang="en-US" sz="2600" dirty="0"/>
          </a:p>
        </p:txBody>
      </p:sp>
      <p:sp>
        <p:nvSpPr>
          <p:cNvPr id="12" name="Text 10"/>
          <p:cNvSpPr/>
          <p:nvPr/>
        </p:nvSpPr>
        <p:spPr>
          <a:xfrm>
            <a:off x="7452360" y="1828800"/>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Mục tiêu &amp; Đối tượng</a:t>
            </a:r>
            <a:endParaRPr lang="en-US" sz="1400" dirty="0"/>
          </a:p>
        </p:txBody>
      </p:sp>
      <p:sp>
        <p:nvSpPr>
          <p:cNvPr id="13" name="Text 11"/>
          <p:cNvSpPr/>
          <p:nvPr/>
        </p:nvSpPr>
        <p:spPr>
          <a:xfrm>
            <a:off x="7452360" y="2221992"/>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Vì sao VUNIS ra đời và phục vụ ai</a:t>
            </a:r>
            <a:endParaRPr lang="en-US" sz="1000" dirty="0"/>
          </a:p>
        </p:txBody>
      </p:sp>
      <p:sp>
        <p:nvSpPr>
          <p:cNvPr id="14" name="Shape 12"/>
          <p:cNvSpPr/>
          <p:nvPr/>
        </p:nvSpPr>
        <p:spPr>
          <a:xfrm>
            <a:off x="640080" y="2935224"/>
            <a:ext cx="5440680" cy="1078992"/>
          </a:xfrm>
          <a:prstGeom prst="rect">
            <a:avLst/>
          </a:prstGeom>
          <a:solidFill>
            <a:srgbClr val="FFFFFF">
              <a:alpha val="5000"/>
            </a:srgbClr>
          </a:solidFill>
          <a:ln w="9525">
            <a:solidFill>
              <a:srgbClr val="3B4680"/>
            </a:solidFill>
            <a:prstDash val="solid"/>
          </a:ln>
        </p:spPr>
      </p:sp>
      <p:sp>
        <p:nvSpPr>
          <p:cNvPr id="15" name="Text 13"/>
          <p:cNvSpPr/>
          <p:nvPr/>
        </p:nvSpPr>
        <p:spPr>
          <a:xfrm>
            <a:off x="822960" y="2935224"/>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1737360" y="3072384"/>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Công nghệ sử dụng</a:t>
            </a:r>
            <a:endParaRPr lang="en-US" sz="1400" dirty="0"/>
          </a:p>
        </p:txBody>
      </p:sp>
      <p:sp>
        <p:nvSpPr>
          <p:cNvPr id="17" name="Text 15"/>
          <p:cNvSpPr/>
          <p:nvPr/>
        </p:nvSpPr>
        <p:spPr>
          <a:xfrm>
            <a:off x="1737360" y="3465576"/>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Tech stack Backend &amp; Frontend</a:t>
            </a:r>
            <a:endParaRPr lang="en-US" sz="1000" dirty="0"/>
          </a:p>
        </p:txBody>
      </p:sp>
      <p:sp>
        <p:nvSpPr>
          <p:cNvPr id="18" name="Shape 16"/>
          <p:cNvSpPr/>
          <p:nvPr/>
        </p:nvSpPr>
        <p:spPr>
          <a:xfrm>
            <a:off x="6355080" y="2935224"/>
            <a:ext cx="5440680" cy="1078992"/>
          </a:xfrm>
          <a:prstGeom prst="rect">
            <a:avLst/>
          </a:prstGeom>
          <a:solidFill>
            <a:srgbClr val="FFFFFF">
              <a:alpha val="5000"/>
            </a:srgbClr>
          </a:solidFill>
          <a:ln w="9525">
            <a:solidFill>
              <a:srgbClr val="3B4680"/>
            </a:solidFill>
            <a:prstDash val="solid"/>
          </a:ln>
        </p:spPr>
      </p:sp>
      <p:sp>
        <p:nvSpPr>
          <p:cNvPr id="19" name="Text 17"/>
          <p:cNvSpPr/>
          <p:nvPr/>
        </p:nvSpPr>
        <p:spPr>
          <a:xfrm>
            <a:off x="6537960" y="2935224"/>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04</a:t>
            </a:r>
            <a:endParaRPr lang="en-US" sz="2600" dirty="0"/>
          </a:p>
        </p:txBody>
      </p:sp>
      <p:sp>
        <p:nvSpPr>
          <p:cNvPr id="20" name="Text 18"/>
          <p:cNvSpPr/>
          <p:nvPr/>
        </p:nvSpPr>
        <p:spPr>
          <a:xfrm>
            <a:off x="7452360" y="3072384"/>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Kiến trúc hệ thống</a:t>
            </a:r>
            <a:endParaRPr lang="en-US" sz="1400" dirty="0"/>
          </a:p>
        </p:txBody>
      </p:sp>
      <p:sp>
        <p:nvSpPr>
          <p:cNvPr id="21" name="Text 19"/>
          <p:cNvSpPr/>
          <p:nvPr/>
        </p:nvSpPr>
        <p:spPr>
          <a:xfrm>
            <a:off x="7452360" y="3465576"/>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Mô hình 6 tầng Modular &amp; module nghiệp vụ</a:t>
            </a:r>
            <a:endParaRPr lang="en-US" sz="1000" dirty="0"/>
          </a:p>
        </p:txBody>
      </p:sp>
      <p:sp>
        <p:nvSpPr>
          <p:cNvPr id="22" name="Shape 20"/>
          <p:cNvSpPr/>
          <p:nvPr/>
        </p:nvSpPr>
        <p:spPr>
          <a:xfrm>
            <a:off x="640080" y="4178808"/>
            <a:ext cx="5440680" cy="1078992"/>
          </a:xfrm>
          <a:prstGeom prst="rect">
            <a:avLst/>
          </a:prstGeom>
          <a:solidFill>
            <a:srgbClr val="FFFFFF">
              <a:alpha val="5000"/>
            </a:srgbClr>
          </a:solidFill>
          <a:ln w="9525">
            <a:solidFill>
              <a:srgbClr val="3B4680"/>
            </a:solidFill>
            <a:prstDash val="solid"/>
          </a:ln>
        </p:spPr>
      </p:sp>
      <p:sp>
        <p:nvSpPr>
          <p:cNvPr id="23" name="Text 21"/>
          <p:cNvSpPr/>
          <p:nvPr/>
        </p:nvSpPr>
        <p:spPr>
          <a:xfrm>
            <a:off x="822960" y="4178808"/>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05</a:t>
            </a:r>
            <a:endParaRPr lang="en-US" sz="2600" dirty="0"/>
          </a:p>
        </p:txBody>
      </p:sp>
      <p:sp>
        <p:nvSpPr>
          <p:cNvPr id="24" name="Text 22"/>
          <p:cNvSpPr/>
          <p:nvPr/>
        </p:nvSpPr>
        <p:spPr>
          <a:xfrm>
            <a:off x="1737360" y="4315968"/>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API &amp; Phân quyền</a:t>
            </a:r>
            <a:endParaRPr lang="en-US" sz="1400" dirty="0"/>
          </a:p>
        </p:txBody>
      </p:sp>
      <p:sp>
        <p:nvSpPr>
          <p:cNvPr id="25" name="Text 23"/>
          <p:cNvSpPr/>
          <p:nvPr/>
        </p:nvSpPr>
        <p:spPr>
          <a:xfrm>
            <a:off x="1737360" y="4709160"/>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Bộ endpoint chính và RBAC 6 cấp</a:t>
            </a:r>
            <a:endParaRPr lang="en-US" sz="1000" dirty="0"/>
          </a:p>
        </p:txBody>
      </p:sp>
      <p:sp>
        <p:nvSpPr>
          <p:cNvPr id="26" name="Shape 24"/>
          <p:cNvSpPr/>
          <p:nvPr/>
        </p:nvSpPr>
        <p:spPr>
          <a:xfrm>
            <a:off x="6355080" y="4178808"/>
            <a:ext cx="5440680" cy="1078992"/>
          </a:xfrm>
          <a:prstGeom prst="rect">
            <a:avLst/>
          </a:prstGeom>
          <a:solidFill>
            <a:srgbClr val="FFFFFF">
              <a:alpha val="5000"/>
            </a:srgbClr>
          </a:solidFill>
          <a:ln w="9525">
            <a:solidFill>
              <a:srgbClr val="3B4680"/>
            </a:solidFill>
            <a:prstDash val="solid"/>
          </a:ln>
        </p:spPr>
      </p:sp>
      <p:sp>
        <p:nvSpPr>
          <p:cNvPr id="27" name="Text 25"/>
          <p:cNvSpPr/>
          <p:nvPr/>
        </p:nvSpPr>
        <p:spPr>
          <a:xfrm>
            <a:off x="6537960" y="4178808"/>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06</a:t>
            </a:r>
            <a:endParaRPr lang="en-US" sz="2600" dirty="0"/>
          </a:p>
        </p:txBody>
      </p:sp>
      <p:sp>
        <p:nvSpPr>
          <p:cNvPr id="28" name="Text 26"/>
          <p:cNvSpPr/>
          <p:nvPr/>
        </p:nvSpPr>
        <p:spPr>
          <a:xfrm>
            <a:off x="7452360" y="4315968"/>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Thuật toán nổi bật</a:t>
            </a:r>
            <a:endParaRPr lang="en-US" sz="1400" dirty="0"/>
          </a:p>
        </p:txBody>
      </p:sp>
      <p:sp>
        <p:nvSpPr>
          <p:cNvPr id="29" name="Text 27"/>
          <p:cNvSpPr/>
          <p:nvPr/>
        </p:nvSpPr>
        <p:spPr>
          <a:xfrm>
            <a:off x="7452360" y="4709160"/>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Cây đệ quy, DFS, Aggregation, TTL Log</a:t>
            </a:r>
            <a:endParaRPr lang="en-US" sz="1000" dirty="0"/>
          </a:p>
        </p:txBody>
      </p:sp>
      <p:sp>
        <p:nvSpPr>
          <p:cNvPr id="30" name="Shape 28"/>
          <p:cNvSpPr/>
          <p:nvPr/>
        </p:nvSpPr>
        <p:spPr>
          <a:xfrm>
            <a:off x="640080" y="5422392"/>
            <a:ext cx="5440680" cy="1078992"/>
          </a:xfrm>
          <a:prstGeom prst="rect">
            <a:avLst/>
          </a:prstGeom>
          <a:solidFill>
            <a:srgbClr val="FFFFFF">
              <a:alpha val="5000"/>
            </a:srgbClr>
          </a:solidFill>
          <a:ln w="9525">
            <a:solidFill>
              <a:srgbClr val="3B4680"/>
            </a:solidFill>
            <a:prstDash val="solid"/>
          </a:ln>
        </p:spPr>
      </p:sp>
      <p:sp>
        <p:nvSpPr>
          <p:cNvPr id="31" name="Text 29"/>
          <p:cNvSpPr/>
          <p:nvPr/>
        </p:nvSpPr>
        <p:spPr>
          <a:xfrm>
            <a:off x="822960" y="5422392"/>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07</a:t>
            </a:r>
            <a:endParaRPr lang="en-US" sz="2600" dirty="0"/>
          </a:p>
        </p:txBody>
      </p:sp>
      <p:sp>
        <p:nvSpPr>
          <p:cNvPr id="32" name="Text 30"/>
          <p:cNvSpPr/>
          <p:nvPr/>
        </p:nvSpPr>
        <p:spPr>
          <a:xfrm>
            <a:off x="1737360" y="5559552"/>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Tính năng chính</a:t>
            </a:r>
            <a:endParaRPr lang="en-US" sz="1400" dirty="0"/>
          </a:p>
        </p:txBody>
      </p:sp>
      <p:sp>
        <p:nvSpPr>
          <p:cNvPr id="33" name="Text 31"/>
          <p:cNvSpPr/>
          <p:nvPr/>
        </p:nvSpPr>
        <p:spPr>
          <a:xfrm>
            <a:off x="1737360" y="5952744"/>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Kanban, Gantt/PERT, Sprint, Cộng tác</a:t>
            </a:r>
            <a:endParaRPr lang="en-US" sz="1000" dirty="0"/>
          </a:p>
        </p:txBody>
      </p:sp>
      <p:sp>
        <p:nvSpPr>
          <p:cNvPr id="34" name="Shape 32"/>
          <p:cNvSpPr/>
          <p:nvPr/>
        </p:nvSpPr>
        <p:spPr>
          <a:xfrm>
            <a:off x="6355080" y="5422392"/>
            <a:ext cx="5440680" cy="1078992"/>
          </a:xfrm>
          <a:prstGeom prst="rect">
            <a:avLst/>
          </a:prstGeom>
          <a:solidFill>
            <a:srgbClr val="FFFFFF">
              <a:alpha val="5000"/>
            </a:srgbClr>
          </a:solidFill>
          <a:ln w="9525">
            <a:solidFill>
              <a:srgbClr val="3B4680"/>
            </a:solidFill>
            <a:prstDash val="solid"/>
          </a:ln>
        </p:spPr>
      </p:sp>
      <p:sp>
        <p:nvSpPr>
          <p:cNvPr id="35" name="Text 33"/>
          <p:cNvSpPr/>
          <p:nvPr/>
        </p:nvSpPr>
        <p:spPr>
          <a:xfrm>
            <a:off x="6537960" y="5422392"/>
            <a:ext cx="914400" cy="1078992"/>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08</a:t>
            </a:r>
            <a:endParaRPr lang="en-US" sz="2600" dirty="0"/>
          </a:p>
        </p:txBody>
      </p:sp>
      <p:sp>
        <p:nvSpPr>
          <p:cNvPr id="36" name="Text 34"/>
          <p:cNvSpPr/>
          <p:nvPr/>
        </p:nvSpPr>
        <p:spPr>
          <a:xfrm>
            <a:off x="7452360" y="5559552"/>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Bảo mật &amp; Vận hành</a:t>
            </a:r>
            <a:endParaRPr lang="en-US" sz="1400" dirty="0"/>
          </a:p>
        </p:txBody>
      </p:sp>
      <p:sp>
        <p:nvSpPr>
          <p:cNvPr id="37" name="Text 35"/>
          <p:cNvSpPr/>
          <p:nvPr/>
        </p:nvSpPr>
        <p:spPr>
          <a:xfrm>
            <a:off x="7452360" y="5952744"/>
            <a:ext cx="4160520" cy="457200"/>
          </a:xfrm>
          <a:prstGeom prst="rect">
            <a:avLst/>
          </a:prstGeom>
          <a:noFill/>
          <a:ln/>
        </p:spPr>
        <p:txBody>
          <a:bodyPr wrap="square" lIns="0" tIns="0" rIns="0" bIns="0" rtlCol="0" anchor="ctr"/>
          <a:lstStyle/>
          <a:p>
            <a:pPr marL="0" indent="0">
              <a:buNone/>
            </a:pPr>
            <a:r>
              <a:rPr lang="en-US" sz="1000" dirty="0">
                <a:solidFill>
                  <a:srgbClr val="C4CDEE"/>
                </a:solidFill>
                <a:latin typeface="Calibri" pitchFamily="34" charset="0"/>
                <a:ea typeface="Calibri" pitchFamily="34" charset="-122"/>
                <a:cs typeface="Calibri" pitchFamily="34" charset="-120"/>
              </a:rPr>
              <a:t>Xác thực, chống tấn công, triển khai</a:t>
            </a:r>
            <a:endParaRPr lang="en-US" sz="1000" dirty="0"/>
          </a:p>
        </p:txBody>
      </p:sp>
      <p:sp>
        <p:nvSpPr>
          <p:cNvPr id="38" name="Text 36"/>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8C9BC9"/>
                </a:solidFill>
                <a:latin typeface="Calibri" pitchFamily="34" charset="0"/>
                <a:ea typeface="Calibri" pitchFamily="34" charset="-122"/>
                <a:cs typeface="Calibri" pitchFamily="34" charset="-120"/>
              </a:rPr>
              <a:t>VUNIS — Project Management System</a:t>
            </a:r>
            <a:endParaRPr lang="en-US" sz="900" dirty="0"/>
          </a:p>
        </p:txBody>
      </p:sp>
      <p:sp>
        <p:nvSpPr>
          <p:cNvPr id="39" name="Text 37"/>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8C9BC9"/>
                </a:solidFill>
                <a:latin typeface="Calibri" pitchFamily="34" charset="0"/>
                <a:ea typeface="Calibri" pitchFamily="34" charset="-122"/>
                <a:cs typeface="Calibri" pitchFamily="34" charset="-120"/>
              </a:rPr>
              <a:t>02</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GIỚI THIỆU DỰ ÁN</a:t>
            </a:r>
            <a:endParaRPr lang="en-US" sz="1200" dirty="0"/>
          </a:p>
        </p:txBody>
      </p:sp>
      <p:sp>
        <p:nvSpPr>
          <p:cNvPr id="4" name="Text 2"/>
          <p:cNvSpPr/>
          <p:nvPr/>
        </p:nvSpPr>
        <p:spPr>
          <a:xfrm>
            <a:off x="640080" y="777240"/>
            <a:ext cx="82296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VUNIS là gì?</a:t>
            </a:r>
            <a:endParaRPr lang="en-US" sz="3000" dirty="0"/>
          </a:p>
        </p:txBody>
      </p:sp>
      <p:sp>
        <p:nvSpPr>
          <p:cNvPr id="5" name="Text 3"/>
          <p:cNvSpPr/>
          <p:nvPr/>
        </p:nvSpPr>
        <p:spPr>
          <a:xfrm>
            <a:off x="640080" y="1600200"/>
            <a:ext cx="5760720" cy="1188720"/>
          </a:xfrm>
          <a:prstGeom prst="rect">
            <a:avLst/>
          </a:prstGeom>
          <a:noFill/>
          <a:ln/>
        </p:spPr>
        <p:txBody>
          <a:bodyPr wrap="square" lIns="0" tIns="0" rIns="0" bIns="0" rtlCol="0" anchor="ctr"/>
          <a:lstStyle/>
          <a:p>
            <a:pPr marL="0" indent="0">
              <a:lnSpc>
                <a:spcPct val="130000"/>
              </a:lnSpc>
              <a:buNone/>
            </a:pPr>
            <a:r>
              <a:rPr lang="en-US" sz="1500" b="1" dirty="0">
                <a:solidFill>
                  <a:srgbClr val="1E2761"/>
                </a:solidFill>
                <a:latin typeface="Calibri" pitchFamily="34" charset="0"/>
                <a:ea typeface="Calibri" pitchFamily="34" charset="-122"/>
                <a:cs typeface="Calibri" pitchFamily="34" charset="-120"/>
              </a:rPr>
              <a:t>VUNIS </a:t>
            </a:r>
            <a:r>
              <a:rPr lang="en-US" sz="1500" dirty="0">
                <a:solidFill>
                  <a:srgbClr val="1B2340"/>
                </a:solidFill>
                <a:latin typeface="Calibri" pitchFamily="34" charset="0"/>
                <a:ea typeface="Calibri" pitchFamily="34" charset="-122"/>
                <a:cs typeface="Calibri" pitchFamily="34" charset="-120"/>
              </a:rPr>
              <a:t>là hệ thống quản lý dự án doanh nghiệp — kết hợp giữa Jira (quản lý công việc Agile, Kanban, Sprint) và MS Project (lập kế hoạch Gantt, đa mô hình vòng đời dự án).</a:t>
            </a:r>
            <a:endParaRPr lang="en-US" sz="1500" dirty="0"/>
          </a:p>
        </p:txBody>
      </p:sp>
      <p:sp>
        <p:nvSpPr>
          <p:cNvPr id="6" name="Text 4"/>
          <p:cNvSpPr/>
          <p:nvPr/>
        </p:nvSpPr>
        <p:spPr>
          <a:xfrm>
            <a:off x="640080" y="2697480"/>
            <a:ext cx="5760720" cy="1371600"/>
          </a:xfrm>
          <a:prstGeom prst="rect">
            <a:avLst/>
          </a:prstGeom>
          <a:noFill/>
          <a:ln/>
        </p:spPr>
        <p:txBody>
          <a:bodyPr wrap="square" lIns="0" tIns="0" rIns="0" bIns="0" rtlCol="0" anchor="ctr"/>
          <a:lstStyle/>
          <a:p>
            <a:pPr marL="0" indent="0">
              <a:lnSpc>
                <a:spcPct val="130000"/>
              </a:lnSpc>
              <a:buNone/>
            </a:pPr>
            <a:r>
              <a:rPr lang="en-US" sz="1350" dirty="0">
                <a:solidFill>
                  <a:srgbClr val="5A6580"/>
                </a:solidFill>
                <a:latin typeface="Calibri" pitchFamily="34" charset="0"/>
                <a:ea typeface="Calibri" pitchFamily="34" charset="-122"/>
                <a:cs typeface="Calibri" pitchFamily="34" charset="-120"/>
              </a:rPr>
              <a:t>Hệ thống hỗ trợ lập kế hoạch Sprint, trực quan hoá tiến độ bằng sơ đồ PERT/Gantt/V-Model/Spiral, phân cấp cây dự án cha–con, bình luận lồng nhau theo thời gian thực và theo dõi trạng thái người dùng trực tuyến qua Socket.io.</a:t>
            </a:r>
            <a:endParaRPr lang="en-US" sz="1350" dirty="0"/>
          </a:p>
        </p:txBody>
      </p:sp>
      <p:sp>
        <p:nvSpPr>
          <p:cNvPr id="7" name="Shape 5"/>
          <p:cNvSpPr/>
          <p:nvPr/>
        </p:nvSpPr>
        <p:spPr>
          <a:xfrm>
            <a:off x="640080" y="4251960"/>
            <a:ext cx="5760720" cy="1783080"/>
          </a:xfrm>
          <a:prstGeom prst="rect">
            <a:avLst/>
          </a:prstGeom>
          <a:solidFill>
            <a:srgbClr val="F4F6FC"/>
          </a:solidFill>
          <a:ln/>
        </p:spPr>
      </p:sp>
      <p:sp>
        <p:nvSpPr>
          <p:cNvPr id="8" name="Text 6"/>
          <p:cNvSpPr/>
          <p:nvPr/>
        </p:nvSpPr>
        <p:spPr>
          <a:xfrm>
            <a:off x="868680" y="4434840"/>
            <a:ext cx="5303520" cy="274320"/>
          </a:xfrm>
          <a:prstGeom prst="rect">
            <a:avLst/>
          </a:prstGeom>
          <a:noFill/>
          <a:ln/>
        </p:spPr>
        <p:txBody>
          <a:bodyPr wrap="square" lIns="0" tIns="0" rIns="0" bIns="0" rtlCol="0" anchor="ctr"/>
          <a:lstStyle/>
          <a:p>
            <a:pPr marL="0" indent="0">
              <a:buNone/>
            </a:pPr>
            <a:r>
              <a:rPr lang="en-US" sz="1100" b="1" kern="0" spc="150" dirty="0">
                <a:solidFill>
                  <a:srgbClr val="1E2761"/>
                </a:solidFill>
                <a:latin typeface="Calibri" pitchFamily="34" charset="0"/>
                <a:ea typeface="Calibri" pitchFamily="34" charset="-122"/>
                <a:cs typeface="Calibri" pitchFamily="34" charset="-120"/>
              </a:rPr>
              <a:t>BÀI TOÁN THỰC TẾ</a:t>
            </a:r>
            <a:endParaRPr lang="en-US" sz="1100" dirty="0"/>
          </a:p>
        </p:txBody>
      </p:sp>
      <p:sp>
        <p:nvSpPr>
          <p:cNvPr id="9" name="Text 7"/>
          <p:cNvSpPr/>
          <p:nvPr/>
        </p:nvSpPr>
        <p:spPr>
          <a:xfrm>
            <a:off x="868680" y="4736592"/>
            <a:ext cx="5303520" cy="1188720"/>
          </a:xfrm>
          <a:prstGeom prst="rect">
            <a:avLst/>
          </a:prstGeom>
          <a:noFill/>
          <a:ln/>
        </p:spPr>
        <p:txBody>
          <a:bodyPr wrap="square" lIns="0" tIns="0" rIns="0" bIns="0" rtlCol="0" anchor="ctr"/>
          <a:lstStyle/>
          <a:p>
            <a:pPr marL="0" indent="0">
              <a:lnSpc>
                <a:spcPct val="125000"/>
              </a:lnSpc>
              <a:buNone/>
            </a:pPr>
            <a:r>
              <a:rPr lang="en-US" sz="1150" dirty="0">
                <a:solidFill>
                  <a:srgbClr val="1B2340"/>
                </a:solidFill>
                <a:latin typeface="Calibri" pitchFamily="34" charset="0"/>
                <a:ea typeface="Calibri" pitchFamily="34" charset="-122"/>
                <a:cs typeface="Calibri" pitchFamily="34" charset="-120"/>
              </a:rPr>
              <a:t>Doanh nghiệp phải dùng tách biệt Jira để quản lý Agile và MS Project để lập kế hoạch Waterfall, gây rời rạc dữ liệu, khó đồng bộ tiến độ và phân quyền nhiều cấp như một tổ chức thực sự.</a:t>
            </a:r>
            <a:endParaRPr lang="en-US" sz="1150" dirty="0"/>
          </a:p>
        </p:txBody>
      </p:sp>
      <p:sp>
        <p:nvSpPr>
          <p:cNvPr id="10" name="Shape 8"/>
          <p:cNvSpPr/>
          <p:nvPr/>
        </p:nvSpPr>
        <p:spPr>
          <a:xfrm>
            <a:off x="6903720" y="1508760"/>
            <a:ext cx="4663440" cy="1051560"/>
          </a:xfrm>
          <a:prstGeom prst="rect">
            <a:avLst/>
          </a:prstGeom>
          <a:solidFill>
            <a:srgbClr val="F4F6FC"/>
          </a:solidFill>
          <a:ln/>
        </p:spPr>
      </p:sp>
      <p:sp>
        <p:nvSpPr>
          <p:cNvPr id="11" name="Shape 9"/>
          <p:cNvSpPr/>
          <p:nvPr/>
        </p:nvSpPr>
        <p:spPr>
          <a:xfrm>
            <a:off x="7132320" y="1801368"/>
            <a:ext cx="457200" cy="457200"/>
          </a:xfrm>
          <a:prstGeom prst="ellipse">
            <a:avLst/>
          </a:prstGeom>
          <a:solidFill>
            <a:srgbClr val="1E2761"/>
          </a:solidFill>
          <a:ln/>
        </p:spPr>
      </p:sp>
      <p:sp>
        <p:nvSpPr>
          <p:cNvPr id="12" name="Text 10"/>
          <p:cNvSpPr/>
          <p:nvPr/>
        </p:nvSpPr>
        <p:spPr>
          <a:xfrm>
            <a:off x="7132320" y="18013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p:nvPr/>
        </p:nvSpPr>
        <p:spPr>
          <a:xfrm>
            <a:off x="7772400" y="1636776"/>
            <a:ext cx="365760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Sprint Planning</a:t>
            </a:r>
            <a:endParaRPr lang="en-US" sz="1450" dirty="0"/>
          </a:p>
        </p:txBody>
      </p:sp>
      <p:sp>
        <p:nvSpPr>
          <p:cNvPr id="14" name="Text 12"/>
          <p:cNvSpPr/>
          <p:nvPr/>
        </p:nvSpPr>
        <p:spPr>
          <a:xfrm>
            <a:off x="7772400" y="1947672"/>
            <a:ext cx="3657600" cy="502920"/>
          </a:xfrm>
          <a:prstGeom prst="rect">
            <a:avLst/>
          </a:prstGeom>
          <a:noFill/>
          <a:ln/>
        </p:spPr>
        <p:txBody>
          <a:bodyPr wrap="square" lIns="0" tIns="0" rIns="0" bIns="0" rtlCol="0" anchor="ctr"/>
          <a:lstStyle/>
          <a:p>
            <a:pPr marL="0" indent="0">
              <a:buNone/>
            </a:pPr>
            <a:r>
              <a:rPr lang="en-US" sz="1100" dirty="0">
                <a:solidFill>
                  <a:srgbClr val="5A6580"/>
                </a:solidFill>
                <a:latin typeface="Calibri" pitchFamily="34" charset="0"/>
                <a:ea typeface="Calibri" pitchFamily="34" charset="-122"/>
                <a:cs typeface="Calibri" pitchFamily="34" charset="-120"/>
              </a:rPr>
              <a:t>Lập kế hoạch &amp; theo dõi Sprint Agile</a:t>
            </a:r>
            <a:endParaRPr lang="en-US" sz="1100" dirty="0"/>
          </a:p>
        </p:txBody>
      </p:sp>
      <p:sp>
        <p:nvSpPr>
          <p:cNvPr id="15" name="Shape 13"/>
          <p:cNvSpPr/>
          <p:nvPr/>
        </p:nvSpPr>
        <p:spPr>
          <a:xfrm>
            <a:off x="6903720" y="2715768"/>
            <a:ext cx="4663440" cy="1051560"/>
          </a:xfrm>
          <a:prstGeom prst="rect">
            <a:avLst/>
          </a:prstGeom>
          <a:solidFill>
            <a:srgbClr val="F4F6FC"/>
          </a:solidFill>
          <a:ln/>
        </p:spPr>
      </p:sp>
      <p:sp>
        <p:nvSpPr>
          <p:cNvPr id="16" name="Shape 14"/>
          <p:cNvSpPr/>
          <p:nvPr/>
        </p:nvSpPr>
        <p:spPr>
          <a:xfrm>
            <a:off x="7132320" y="3008376"/>
            <a:ext cx="457200" cy="457200"/>
          </a:xfrm>
          <a:prstGeom prst="ellipse">
            <a:avLst/>
          </a:prstGeom>
          <a:solidFill>
            <a:srgbClr val="1E2761"/>
          </a:solidFill>
          <a:ln/>
        </p:spPr>
      </p:sp>
      <p:sp>
        <p:nvSpPr>
          <p:cNvPr id="17" name="Text 15"/>
          <p:cNvSpPr/>
          <p:nvPr/>
        </p:nvSpPr>
        <p:spPr>
          <a:xfrm>
            <a:off x="7132320" y="30083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7772400" y="2843784"/>
            <a:ext cx="365760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PERT / Gantt / V-Model</a:t>
            </a:r>
            <a:endParaRPr lang="en-US" sz="1450" dirty="0"/>
          </a:p>
        </p:txBody>
      </p:sp>
      <p:sp>
        <p:nvSpPr>
          <p:cNvPr id="19" name="Text 17"/>
          <p:cNvSpPr/>
          <p:nvPr/>
        </p:nvSpPr>
        <p:spPr>
          <a:xfrm>
            <a:off x="7772400" y="3154680"/>
            <a:ext cx="3657600" cy="502920"/>
          </a:xfrm>
          <a:prstGeom prst="rect">
            <a:avLst/>
          </a:prstGeom>
          <a:noFill/>
          <a:ln/>
        </p:spPr>
        <p:txBody>
          <a:bodyPr wrap="square" lIns="0" tIns="0" rIns="0" bIns="0" rtlCol="0" anchor="ctr"/>
          <a:lstStyle/>
          <a:p>
            <a:pPr marL="0" indent="0">
              <a:buNone/>
            </a:pPr>
            <a:r>
              <a:rPr lang="en-US" sz="1100" dirty="0">
                <a:solidFill>
                  <a:srgbClr val="5A6580"/>
                </a:solidFill>
                <a:latin typeface="Calibri" pitchFamily="34" charset="0"/>
                <a:ea typeface="Calibri" pitchFamily="34" charset="-122"/>
                <a:cs typeface="Calibri" pitchFamily="34" charset="-120"/>
              </a:rPr>
              <a:t>Trực quan hoá tiến độ &amp; phụ thuộc công việc</a:t>
            </a:r>
            <a:endParaRPr lang="en-US" sz="1100" dirty="0"/>
          </a:p>
        </p:txBody>
      </p:sp>
      <p:sp>
        <p:nvSpPr>
          <p:cNvPr id="20" name="Shape 18"/>
          <p:cNvSpPr/>
          <p:nvPr/>
        </p:nvSpPr>
        <p:spPr>
          <a:xfrm>
            <a:off x="6903720" y="3922776"/>
            <a:ext cx="4663440" cy="1051560"/>
          </a:xfrm>
          <a:prstGeom prst="rect">
            <a:avLst/>
          </a:prstGeom>
          <a:solidFill>
            <a:srgbClr val="F4F6FC"/>
          </a:solidFill>
          <a:ln/>
        </p:spPr>
      </p:sp>
      <p:sp>
        <p:nvSpPr>
          <p:cNvPr id="21" name="Shape 19"/>
          <p:cNvSpPr/>
          <p:nvPr/>
        </p:nvSpPr>
        <p:spPr>
          <a:xfrm>
            <a:off x="7132320" y="4215384"/>
            <a:ext cx="457200" cy="457200"/>
          </a:xfrm>
          <a:prstGeom prst="ellipse">
            <a:avLst/>
          </a:prstGeom>
          <a:solidFill>
            <a:srgbClr val="1E2761"/>
          </a:solidFill>
          <a:ln/>
        </p:spPr>
      </p:sp>
      <p:sp>
        <p:nvSpPr>
          <p:cNvPr id="22" name="Text 20"/>
          <p:cNvSpPr/>
          <p:nvPr/>
        </p:nvSpPr>
        <p:spPr>
          <a:xfrm>
            <a:off x="7132320" y="42153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7772400" y="4050792"/>
            <a:ext cx="365760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Cây Dự án Cha – Con</a:t>
            </a:r>
            <a:endParaRPr lang="en-US" sz="1450" dirty="0"/>
          </a:p>
        </p:txBody>
      </p:sp>
      <p:sp>
        <p:nvSpPr>
          <p:cNvPr id="24" name="Text 22"/>
          <p:cNvSpPr/>
          <p:nvPr/>
        </p:nvSpPr>
        <p:spPr>
          <a:xfrm>
            <a:off x="7772400" y="4361688"/>
            <a:ext cx="3657600" cy="502920"/>
          </a:xfrm>
          <a:prstGeom prst="rect">
            <a:avLst/>
          </a:prstGeom>
          <a:noFill/>
          <a:ln/>
        </p:spPr>
        <p:txBody>
          <a:bodyPr wrap="square" lIns="0" tIns="0" rIns="0" bIns="0" rtlCol="0" anchor="ctr"/>
          <a:lstStyle/>
          <a:p>
            <a:pPr marL="0" indent="0">
              <a:buNone/>
            </a:pPr>
            <a:r>
              <a:rPr lang="en-US" sz="1100" dirty="0">
                <a:solidFill>
                  <a:srgbClr val="5A6580"/>
                </a:solidFill>
                <a:latin typeface="Calibri" pitchFamily="34" charset="0"/>
                <a:ea typeface="Calibri" pitchFamily="34" charset="-122"/>
                <a:cs typeface="Calibri" pitchFamily="34" charset="-120"/>
              </a:rPr>
              <a:t>Phân cấp dự án linh hoạt không giới hạn tầng</a:t>
            </a:r>
            <a:endParaRPr lang="en-US" sz="1100" dirty="0"/>
          </a:p>
        </p:txBody>
      </p:sp>
      <p:sp>
        <p:nvSpPr>
          <p:cNvPr id="25" name="Shape 23"/>
          <p:cNvSpPr/>
          <p:nvPr/>
        </p:nvSpPr>
        <p:spPr>
          <a:xfrm>
            <a:off x="6903720" y="5129784"/>
            <a:ext cx="4663440" cy="1051560"/>
          </a:xfrm>
          <a:prstGeom prst="rect">
            <a:avLst/>
          </a:prstGeom>
          <a:solidFill>
            <a:srgbClr val="F4F6FC"/>
          </a:solidFill>
          <a:ln/>
        </p:spPr>
      </p:sp>
      <p:sp>
        <p:nvSpPr>
          <p:cNvPr id="26" name="Shape 24"/>
          <p:cNvSpPr/>
          <p:nvPr/>
        </p:nvSpPr>
        <p:spPr>
          <a:xfrm>
            <a:off x="7132320" y="5422392"/>
            <a:ext cx="457200" cy="457200"/>
          </a:xfrm>
          <a:prstGeom prst="ellipse">
            <a:avLst/>
          </a:prstGeom>
          <a:solidFill>
            <a:srgbClr val="1E2761"/>
          </a:solidFill>
          <a:ln/>
        </p:spPr>
      </p:sp>
      <p:sp>
        <p:nvSpPr>
          <p:cNvPr id="27" name="Text 25"/>
          <p:cNvSpPr/>
          <p:nvPr/>
        </p:nvSpPr>
        <p:spPr>
          <a:xfrm>
            <a:off x="7132320" y="542239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p:nvPr/>
        </p:nvSpPr>
        <p:spPr>
          <a:xfrm>
            <a:off x="7772400" y="5257800"/>
            <a:ext cx="365760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Realtime Collaboration</a:t>
            </a:r>
            <a:endParaRPr lang="en-US" sz="1450" dirty="0"/>
          </a:p>
        </p:txBody>
      </p:sp>
      <p:sp>
        <p:nvSpPr>
          <p:cNvPr id="29" name="Text 27"/>
          <p:cNvSpPr/>
          <p:nvPr/>
        </p:nvSpPr>
        <p:spPr>
          <a:xfrm>
            <a:off x="7772400" y="5568696"/>
            <a:ext cx="3657600" cy="502920"/>
          </a:xfrm>
          <a:prstGeom prst="rect">
            <a:avLst/>
          </a:prstGeom>
          <a:noFill/>
          <a:ln/>
        </p:spPr>
        <p:txBody>
          <a:bodyPr wrap="square" lIns="0" tIns="0" rIns="0" bIns="0" rtlCol="0" anchor="ctr"/>
          <a:lstStyle/>
          <a:p>
            <a:pPr marL="0" indent="0">
              <a:buNone/>
            </a:pPr>
            <a:r>
              <a:rPr lang="en-US" sz="1100" dirty="0">
                <a:solidFill>
                  <a:srgbClr val="5A6580"/>
                </a:solidFill>
                <a:latin typeface="Calibri" pitchFamily="34" charset="0"/>
                <a:ea typeface="Calibri" pitchFamily="34" charset="-122"/>
                <a:cs typeface="Calibri" pitchFamily="34" charset="-120"/>
              </a:rPr>
              <a:t>Bình luận, thông báo, trạng thái online tức thời</a:t>
            </a:r>
            <a:endParaRPr lang="en-US" sz="1100" dirty="0"/>
          </a:p>
        </p:txBody>
      </p:sp>
      <p:sp>
        <p:nvSpPr>
          <p:cNvPr id="30" name="Text 28"/>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sp>
        <p:nvSpPr>
          <p:cNvPr id="31" name="Text 29"/>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03</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MỤC TIÊU DỰ ÁN</a:t>
            </a:r>
            <a:endParaRPr lang="en-US" sz="1200" dirty="0"/>
          </a:p>
        </p:txBody>
      </p:sp>
      <p:sp>
        <p:nvSpPr>
          <p:cNvPr id="4" name="Text 2"/>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Mục tiêu &amp; Đối tượng sử dụng</a:t>
            </a:r>
            <a:endParaRPr lang="en-US" sz="3000" dirty="0"/>
          </a:p>
        </p:txBody>
      </p:sp>
      <p:sp>
        <p:nvSpPr>
          <p:cNvPr id="5" name="Text 3"/>
          <p:cNvSpPr/>
          <p:nvPr/>
        </p:nvSpPr>
        <p:spPr>
          <a:xfrm>
            <a:off x="640080" y="1554480"/>
            <a:ext cx="5486400" cy="320040"/>
          </a:xfrm>
          <a:prstGeom prst="rect">
            <a:avLst/>
          </a:prstGeom>
          <a:noFill/>
          <a:ln/>
        </p:spPr>
        <p:txBody>
          <a:bodyPr wrap="square" lIns="0" tIns="0" rIns="0" bIns="0" rtlCol="0" anchor="ctr"/>
          <a:lstStyle/>
          <a:p>
            <a:pPr marL="0" indent="0">
              <a:buNone/>
            </a:pPr>
            <a:r>
              <a:rPr lang="en-US" sz="1300" b="1" kern="0" spc="150" dirty="0">
                <a:solidFill>
                  <a:srgbClr val="1E2761"/>
                </a:solidFill>
                <a:latin typeface="Calibri" pitchFamily="34" charset="0"/>
                <a:ea typeface="Calibri" pitchFamily="34" charset="-122"/>
                <a:cs typeface="Calibri" pitchFamily="34" charset="-120"/>
              </a:rPr>
              <a:t>MỤC TIÊU</a:t>
            </a:r>
            <a:endParaRPr lang="en-US" sz="1300" dirty="0"/>
          </a:p>
        </p:txBody>
      </p:sp>
      <p:sp>
        <p:nvSpPr>
          <p:cNvPr id="6" name="Shape 4"/>
          <p:cNvSpPr/>
          <p:nvPr/>
        </p:nvSpPr>
        <p:spPr>
          <a:xfrm>
            <a:off x="640080" y="2020824"/>
            <a:ext cx="100584" cy="100584"/>
          </a:xfrm>
          <a:prstGeom prst="ellipse">
            <a:avLst/>
          </a:prstGeom>
          <a:solidFill>
            <a:srgbClr val="F4B942"/>
          </a:solidFill>
          <a:ln/>
        </p:spPr>
      </p:sp>
      <p:sp>
        <p:nvSpPr>
          <p:cNvPr id="7" name="Text 5"/>
          <p:cNvSpPr/>
          <p:nvPr/>
        </p:nvSpPr>
        <p:spPr>
          <a:xfrm>
            <a:off x="896112" y="1856232"/>
            <a:ext cx="5166360" cy="502920"/>
          </a:xfrm>
          <a:prstGeom prst="rect">
            <a:avLst/>
          </a:prstGeom>
          <a:noFill/>
          <a:ln/>
        </p:spPr>
        <p:txBody>
          <a:bodyPr wrap="square" lIns="0" tIns="0" rIns="0" bIns="0"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Số hoá quy trình quản lý dự án Agile, thay thế Excel/Chat rời rạc</a:t>
            </a:r>
            <a:endParaRPr lang="en-US" sz="1250" dirty="0"/>
          </a:p>
        </p:txBody>
      </p:sp>
      <p:sp>
        <p:nvSpPr>
          <p:cNvPr id="8" name="Shape 6"/>
          <p:cNvSpPr/>
          <p:nvPr/>
        </p:nvSpPr>
        <p:spPr>
          <a:xfrm>
            <a:off x="640080" y="2679192"/>
            <a:ext cx="100584" cy="100584"/>
          </a:xfrm>
          <a:prstGeom prst="ellipse">
            <a:avLst/>
          </a:prstGeom>
          <a:solidFill>
            <a:srgbClr val="F4B942"/>
          </a:solidFill>
          <a:ln/>
        </p:spPr>
      </p:sp>
      <p:sp>
        <p:nvSpPr>
          <p:cNvPr id="9" name="Text 7"/>
          <p:cNvSpPr/>
          <p:nvPr/>
        </p:nvSpPr>
        <p:spPr>
          <a:xfrm>
            <a:off x="896112" y="2514600"/>
            <a:ext cx="5166360" cy="502920"/>
          </a:xfrm>
          <a:prstGeom prst="rect">
            <a:avLst/>
          </a:prstGeom>
          <a:noFill/>
          <a:ln/>
        </p:spPr>
        <p:txBody>
          <a:bodyPr wrap="square" lIns="0" tIns="0" rIns="0" bIns="0"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Trực quan hoá tiến độ &amp; phụ thuộc công việc qua PERT/Gantt Chart</a:t>
            </a:r>
            <a:endParaRPr lang="en-US" sz="1250" dirty="0"/>
          </a:p>
        </p:txBody>
      </p:sp>
      <p:sp>
        <p:nvSpPr>
          <p:cNvPr id="10" name="Shape 8"/>
          <p:cNvSpPr/>
          <p:nvPr/>
        </p:nvSpPr>
        <p:spPr>
          <a:xfrm>
            <a:off x="640080" y="3337560"/>
            <a:ext cx="100584" cy="100584"/>
          </a:xfrm>
          <a:prstGeom prst="ellipse">
            <a:avLst/>
          </a:prstGeom>
          <a:solidFill>
            <a:srgbClr val="F4B942"/>
          </a:solidFill>
          <a:ln/>
        </p:spPr>
      </p:sp>
      <p:sp>
        <p:nvSpPr>
          <p:cNvPr id="11" name="Text 9"/>
          <p:cNvSpPr/>
          <p:nvPr/>
        </p:nvSpPr>
        <p:spPr>
          <a:xfrm>
            <a:off x="896112" y="3172968"/>
            <a:ext cx="5166360" cy="502920"/>
          </a:xfrm>
          <a:prstGeom prst="rect">
            <a:avLst/>
          </a:prstGeom>
          <a:noFill/>
          <a:ln/>
        </p:spPr>
        <p:txBody>
          <a:bodyPr wrap="square" lIns="0" tIns="0" rIns="0" bIns="0"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Chuẩn hoá phân quyền nhiều cấp như mô hình quản trị doanh nghiệp thật</a:t>
            </a:r>
            <a:endParaRPr lang="en-US" sz="1250" dirty="0"/>
          </a:p>
        </p:txBody>
      </p:sp>
      <p:sp>
        <p:nvSpPr>
          <p:cNvPr id="12" name="Shape 10"/>
          <p:cNvSpPr/>
          <p:nvPr/>
        </p:nvSpPr>
        <p:spPr>
          <a:xfrm>
            <a:off x="640080" y="3995928"/>
            <a:ext cx="100584" cy="100584"/>
          </a:xfrm>
          <a:prstGeom prst="ellipse">
            <a:avLst/>
          </a:prstGeom>
          <a:solidFill>
            <a:srgbClr val="F4B942"/>
          </a:solidFill>
          <a:ln/>
        </p:spPr>
      </p:sp>
      <p:sp>
        <p:nvSpPr>
          <p:cNvPr id="13" name="Text 11"/>
          <p:cNvSpPr/>
          <p:nvPr/>
        </p:nvSpPr>
        <p:spPr>
          <a:xfrm>
            <a:off x="896112" y="3831336"/>
            <a:ext cx="5166360" cy="502920"/>
          </a:xfrm>
          <a:prstGeom prst="rect">
            <a:avLst/>
          </a:prstGeom>
          <a:noFill/>
          <a:ln/>
        </p:spPr>
        <p:txBody>
          <a:bodyPr wrap="square" lIns="0" tIns="0" rIns="0" bIns="0"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Tối ưu hiệu năng truy vấn và khả năng mở rộng theo module</a:t>
            </a:r>
            <a:endParaRPr lang="en-US" sz="1250" dirty="0"/>
          </a:p>
        </p:txBody>
      </p:sp>
      <p:sp>
        <p:nvSpPr>
          <p:cNvPr id="14" name="Shape 12"/>
          <p:cNvSpPr/>
          <p:nvPr/>
        </p:nvSpPr>
        <p:spPr>
          <a:xfrm>
            <a:off x="6309360" y="1600200"/>
            <a:ext cx="0" cy="4434840"/>
          </a:xfrm>
          <a:prstGeom prst="line">
            <a:avLst/>
          </a:prstGeom>
          <a:noFill/>
          <a:ln w="19050">
            <a:solidFill>
              <a:srgbClr val="E1E6F5"/>
            </a:solidFill>
            <a:prstDash val="solid"/>
          </a:ln>
        </p:spPr>
      </p:sp>
      <p:sp>
        <p:nvSpPr>
          <p:cNvPr id="15" name="Text 13"/>
          <p:cNvSpPr/>
          <p:nvPr/>
        </p:nvSpPr>
        <p:spPr>
          <a:xfrm>
            <a:off x="6629400" y="1554480"/>
            <a:ext cx="5486400" cy="320040"/>
          </a:xfrm>
          <a:prstGeom prst="rect">
            <a:avLst/>
          </a:prstGeom>
          <a:noFill/>
          <a:ln/>
        </p:spPr>
        <p:txBody>
          <a:bodyPr wrap="square" lIns="0" tIns="0" rIns="0" bIns="0" rtlCol="0" anchor="ctr"/>
          <a:lstStyle/>
          <a:p>
            <a:pPr marL="0" indent="0">
              <a:buNone/>
            </a:pPr>
            <a:r>
              <a:rPr lang="en-US" sz="1300" b="1" kern="0" spc="150" dirty="0">
                <a:solidFill>
                  <a:srgbClr val="1E2761"/>
                </a:solidFill>
                <a:latin typeface="Calibri" pitchFamily="34" charset="0"/>
                <a:ea typeface="Calibri" pitchFamily="34" charset="-122"/>
                <a:cs typeface="Calibri" pitchFamily="34" charset="-120"/>
              </a:rPr>
              <a:t>ĐỐI TƯỢNG SỬ DỤNG</a:t>
            </a:r>
            <a:endParaRPr lang="en-US" sz="1300" dirty="0"/>
          </a:p>
        </p:txBody>
      </p:sp>
      <p:sp>
        <p:nvSpPr>
          <p:cNvPr id="16" name="Shape 14"/>
          <p:cNvSpPr/>
          <p:nvPr/>
        </p:nvSpPr>
        <p:spPr>
          <a:xfrm>
            <a:off x="6629400" y="1965960"/>
            <a:ext cx="4892040" cy="868680"/>
          </a:xfrm>
          <a:prstGeom prst="rect">
            <a:avLst/>
          </a:prstGeom>
          <a:solidFill>
            <a:srgbClr val="F4F6FC"/>
          </a:solidFill>
          <a:ln/>
        </p:spPr>
      </p:sp>
      <p:sp>
        <p:nvSpPr>
          <p:cNvPr id="17" name="Shape 15"/>
          <p:cNvSpPr/>
          <p:nvPr/>
        </p:nvSpPr>
        <p:spPr>
          <a:xfrm>
            <a:off x="6812280" y="2185416"/>
            <a:ext cx="420624" cy="420624"/>
          </a:xfrm>
          <a:prstGeom prst="ellipse">
            <a:avLst/>
          </a:prstGeom>
          <a:solidFill>
            <a:srgbClr val="1E2761"/>
          </a:solidFill>
          <a:ln/>
        </p:spPr>
      </p:sp>
      <p:sp>
        <p:nvSpPr>
          <p:cNvPr id="18" name="Text 16"/>
          <p:cNvSpPr/>
          <p:nvPr/>
        </p:nvSpPr>
        <p:spPr>
          <a:xfrm>
            <a:off x="6812280" y="21854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7"/>
          <p:cNvSpPr/>
          <p:nvPr/>
        </p:nvSpPr>
        <p:spPr>
          <a:xfrm>
            <a:off x="7388352" y="2057400"/>
            <a:ext cx="402336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Project Manager</a:t>
            </a:r>
            <a:endParaRPr lang="en-US" sz="1300" dirty="0"/>
          </a:p>
        </p:txBody>
      </p:sp>
      <p:sp>
        <p:nvSpPr>
          <p:cNvPr id="20" name="Text 18"/>
          <p:cNvSpPr/>
          <p:nvPr/>
        </p:nvSpPr>
        <p:spPr>
          <a:xfrm>
            <a:off x="7388352" y="2377440"/>
            <a:ext cx="4023360" cy="411480"/>
          </a:xfrm>
          <a:prstGeom prst="rect">
            <a:avLst/>
          </a:prstGeom>
          <a:noFill/>
          <a:ln/>
        </p:spPr>
        <p:txBody>
          <a:bodyPr wrap="square" lIns="0" tIns="0" rIns="0" bIns="0" rtlCol="0" anchor="ctr"/>
          <a:lstStyle/>
          <a:p>
            <a:pPr marL="0" indent="0">
              <a:buNone/>
            </a:pPr>
            <a:r>
              <a:rPr lang="en-US" sz="1030" dirty="0">
                <a:solidFill>
                  <a:srgbClr val="5A6580"/>
                </a:solidFill>
                <a:latin typeface="Calibri" pitchFamily="34" charset="0"/>
                <a:ea typeface="Calibri" pitchFamily="34" charset="-122"/>
                <a:cs typeface="Calibri" pitchFamily="34" charset="-120"/>
              </a:rPr>
              <a:t>Lập kế hoạch Sprint, theo dõi tiến độ toàn dự án</a:t>
            </a:r>
            <a:endParaRPr lang="en-US" sz="1030" dirty="0"/>
          </a:p>
        </p:txBody>
      </p:sp>
      <p:sp>
        <p:nvSpPr>
          <p:cNvPr id="21" name="Shape 19"/>
          <p:cNvSpPr/>
          <p:nvPr/>
        </p:nvSpPr>
        <p:spPr>
          <a:xfrm>
            <a:off x="6629400" y="2990088"/>
            <a:ext cx="4892040" cy="868680"/>
          </a:xfrm>
          <a:prstGeom prst="rect">
            <a:avLst/>
          </a:prstGeom>
          <a:solidFill>
            <a:srgbClr val="F4F6FC"/>
          </a:solidFill>
          <a:ln/>
        </p:spPr>
      </p:sp>
      <p:sp>
        <p:nvSpPr>
          <p:cNvPr id="22" name="Shape 20"/>
          <p:cNvSpPr/>
          <p:nvPr/>
        </p:nvSpPr>
        <p:spPr>
          <a:xfrm>
            <a:off x="6812280" y="3209544"/>
            <a:ext cx="420624" cy="420624"/>
          </a:xfrm>
          <a:prstGeom prst="ellipse">
            <a:avLst/>
          </a:prstGeom>
          <a:solidFill>
            <a:srgbClr val="1E2761"/>
          </a:solidFill>
          <a:ln/>
        </p:spPr>
      </p:sp>
      <p:sp>
        <p:nvSpPr>
          <p:cNvPr id="23" name="Text 21"/>
          <p:cNvSpPr/>
          <p:nvPr/>
        </p:nvSpPr>
        <p:spPr>
          <a:xfrm>
            <a:off x="6812280" y="32095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p:nvPr/>
        </p:nvSpPr>
        <p:spPr>
          <a:xfrm>
            <a:off x="7388352" y="3081528"/>
            <a:ext cx="402336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Trưởng nhóm &amp; thành viên</a:t>
            </a:r>
            <a:endParaRPr lang="en-US" sz="1300" dirty="0"/>
          </a:p>
        </p:txBody>
      </p:sp>
      <p:sp>
        <p:nvSpPr>
          <p:cNvPr id="25" name="Text 23"/>
          <p:cNvSpPr/>
          <p:nvPr/>
        </p:nvSpPr>
        <p:spPr>
          <a:xfrm>
            <a:off x="7388352" y="3401568"/>
            <a:ext cx="4023360" cy="411480"/>
          </a:xfrm>
          <a:prstGeom prst="rect">
            <a:avLst/>
          </a:prstGeom>
          <a:noFill/>
          <a:ln/>
        </p:spPr>
        <p:txBody>
          <a:bodyPr wrap="square" lIns="0" tIns="0" rIns="0" bIns="0" rtlCol="0" anchor="ctr"/>
          <a:lstStyle/>
          <a:p>
            <a:pPr marL="0" indent="0">
              <a:buNone/>
            </a:pPr>
            <a:r>
              <a:rPr lang="en-US" sz="1030" dirty="0">
                <a:solidFill>
                  <a:srgbClr val="5A6580"/>
                </a:solidFill>
                <a:latin typeface="Calibri" pitchFamily="34" charset="0"/>
                <a:ea typeface="Calibri" pitchFamily="34" charset="-122"/>
                <a:cs typeface="Calibri" pitchFamily="34" charset="-120"/>
              </a:rPr>
              <a:t>FE / BE / QA / DevOps thực thi &amp; cập nhật Task</a:t>
            </a:r>
            <a:endParaRPr lang="en-US" sz="1030" dirty="0"/>
          </a:p>
        </p:txBody>
      </p:sp>
      <p:sp>
        <p:nvSpPr>
          <p:cNvPr id="26" name="Shape 24"/>
          <p:cNvSpPr/>
          <p:nvPr/>
        </p:nvSpPr>
        <p:spPr>
          <a:xfrm>
            <a:off x="6629400" y="4014216"/>
            <a:ext cx="4892040" cy="868680"/>
          </a:xfrm>
          <a:prstGeom prst="rect">
            <a:avLst/>
          </a:prstGeom>
          <a:solidFill>
            <a:srgbClr val="F4F6FC"/>
          </a:solidFill>
          <a:ln/>
        </p:spPr>
      </p:sp>
      <p:sp>
        <p:nvSpPr>
          <p:cNvPr id="27" name="Shape 25"/>
          <p:cNvSpPr/>
          <p:nvPr/>
        </p:nvSpPr>
        <p:spPr>
          <a:xfrm>
            <a:off x="6812280" y="4233672"/>
            <a:ext cx="420624" cy="420624"/>
          </a:xfrm>
          <a:prstGeom prst="ellipse">
            <a:avLst/>
          </a:prstGeom>
          <a:solidFill>
            <a:srgbClr val="1E2761"/>
          </a:solidFill>
          <a:ln/>
        </p:spPr>
      </p:sp>
      <p:sp>
        <p:nvSpPr>
          <p:cNvPr id="28" name="Text 26"/>
          <p:cNvSpPr/>
          <p:nvPr/>
        </p:nvSpPr>
        <p:spPr>
          <a:xfrm>
            <a:off x="6812280" y="42336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7"/>
          <p:cNvSpPr/>
          <p:nvPr/>
        </p:nvSpPr>
        <p:spPr>
          <a:xfrm>
            <a:off x="7388352" y="4105656"/>
            <a:ext cx="402336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UI/UX Designer</a:t>
            </a:r>
            <a:endParaRPr lang="en-US" sz="1300" dirty="0"/>
          </a:p>
        </p:txBody>
      </p:sp>
      <p:sp>
        <p:nvSpPr>
          <p:cNvPr id="30" name="Text 28"/>
          <p:cNvSpPr/>
          <p:nvPr/>
        </p:nvSpPr>
        <p:spPr>
          <a:xfrm>
            <a:off x="7388352" y="4425696"/>
            <a:ext cx="4023360" cy="411480"/>
          </a:xfrm>
          <a:prstGeom prst="rect">
            <a:avLst/>
          </a:prstGeom>
          <a:noFill/>
          <a:ln/>
        </p:spPr>
        <p:txBody>
          <a:bodyPr wrap="square" lIns="0" tIns="0" rIns="0" bIns="0" rtlCol="0" anchor="ctr"/>
          <a:lstStyle/>
          <a:p>
            <a:pPr marL="0" indent="0">
              <a:buNone/>
            </a:pPr>
            <a:r>
              <a:rPr lang="en-US" sz="1030" dirty="0">
                <a:solidFill>
                  <a:srgbClr val="5A6580"/>
                </a:solidFill>
                <a:latin typeface="Calibri" pitchFamily="34" charset="0"/>
                <a:ea typeface="Calibri" pitchFamily="34" charset="-122"/>
                <a:cs typeface="Calibri" pitchFamily="34" charset="-120"/>
              </a:rPr>
              <a:t>Theo dõi &amp; bàn giao hạng mục thiết kế trong Sprint</a:t>
            </a:r>
            <a:endParaRPr lang="en-US" sz="1030" dirty="0"/>
          </a:p>
        </p:txBody>
      </p:sp>
      <p:sp>
        <p:nvSpPr>
          <p:cNvPr id="31" name="Shape 29"/>
          <p:cNvSpPr/>
          <p:nvPr/>
        </p:nvSpPr>
        <p:spPr>
          <a:xfrm>
            <a:off x="6629400" y="5038344"/>
            <a:ext cx="4892040" cy="868680"/>
          </a:xfrm>
          <a:prstGeom prst="rect">
            <a:avLst/>
          </a:prstGeom>
          <a:solidFill>
            <a:srgbClr val="F4F6FC"/>
          </a:solidFill>
          <a:ln/>
        </p:spPr>
      </p:sp>
      <p:sp>
        <p:nvSpPr>
          <p:cNvPr id="32" name="Shape 30"/>
          <p:cNvSpPr/>
          <p:nvPr/>
        </p:nvSpPr>
        <p:spPr>
          <a:xfrm>
            <a:off x="6812280" y="5257800"/>
            <a:ext cx="420624" cy="420624"/>
          </a:xfrm>
          <a:prstGeom prst="ellipse">
            <a:avLst/>
          </a:prstGeom>
          <a:solidFill>
            <a:srgbClr val="1E2761"/>
          </a:solidFill>
          <a:ln/>
        </p:spPr>
      </p:sp>
      <p:sp>
        <p:nvSpPr>
          <p:cNvPr id="33" name="Text 31"/>
          <p:cNvSpPr/>
          <p:nvPr/>
        </p:nvSpPr>
        <p:spPr>
          <a:xfrm>
            <a:off x="6812280" y="52578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7388352" y="5129784"/>
            <a:ext cx="402336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Quản trị viên hệ thống</a:t>
            </a:r>
            <a:endParaRPr lang="en-US" sz="1300" dirty="0"/>
          </a:p>
        </p:txBody>
      </p:sp>
      <p:sp>
        <p:nvSpPr>
          <p:cNvPr id="35" name="Text 33"/>
          <p:cNvSpPr/>
          <p:nvPr/>
        </p:nvSpPr>
        <p:spPr>
          <a:xfrm>
            <a:off x="7388352" y="5449824"/>
            <a:ext cx="4023360" cy="411480"/>
          </a:xfrm>
          <a:prstGeom prst="rect">
            <a:avLst/>
          </a:prstGeom>
          <a:noFill/>
          <a:ln/>
        </p:spPr>
        <p:txBody>
          <a:bodyPr wrap="square" lIns="0" tIns="0" rIns="0" bIns="0" rtlCol="0" anchor="ctr"/>
          <a:lstStyle/>
          <a:p>
            <a:pPr marL="0" indent="0">
              <a:buNone/>
            </a:pPr>
            <a:r>
              <a:rPr lang="en-US" sz="1030" dirty="0">
                <a:solidFill>
                  <a:srgbClr val="5A6580"/>
                </a:solidFill>
                <a:latin typeface="Calibri" pitchFamily="34" charset="0"/>
                <a:ea typeface="Calibri" pitchFamily="34" charset="-122"/>
                <a:cs typeface="Calibri" pitchFamily="34" charset="-120"/>
              </a:rPr>
              <a:t>5 cấp Admin: tài khoản, nhóm, dịch vụ, hỗ trợ kỹ thuật</a:t>
            </a:r>
            <a:endParaRPr lang="en-US" sz="1030" dirty="0"/>
          </a:p>
        </p:txBody>
      </p:sp>
      <p:sp>
        <p:nvSpPr>
          <p:cNvPr id="36" name="Text 34"/>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sp>
        <p:nvSpPr>
          <p:cNvPr id="37" name="Text 35"/>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04</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CÔNG NGHỆ SỬ DỤNG</a:t>
            </a:r>
            <a:endParaRPr lang="en-US" sz="1200" dirty="0"/>
          </a:p>
        </p:txBody>
      </p:sp>
      <p:sp>
        <p:nvSpPr>
          <p:cNvPr id="4" name="Text 2"/>
          <p:cNvSpPr/>
          <p:nvPr/>
        </p:nvSpPr>
        <p:spPr>
          <a:xfrm>
            <a:off x="640080" y="777240"/>
            <a:ext cx="82296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Tech Stack</a:t>
            </a:r>
            <a:endParaRPr lang="en-US" sz="3000" dirty="0"/>
          </a:p>
        </p:txBody>
      </p:sp>
      <p:sp>
        <p:nvSpPr>
          <p:cNvPr id="5" name="Shape 3"/>
          <p:cNvSpPr/>
          <p:nvPr/>
        </p:nvSpPr>
        <p:spPr>
          <a:xfrm>
            <a:off x="640080" y="1600200"/>
            <a:ext cx="5349240" cy="4709160"/>
          </a:xfrm>
          <a:prstGeom prst="rect">
            <a:avLst/>
          </a:prstGeom>
          <a:solidFill>
            <a:srgbClr val="1E2761"/>
          </a:solidFill>
          <a:ln/>
        </p:spPr>
      </p:sp>
      <p:sp>
        <p:nvSpPr>
          <p:cNvPr id="6" name="Text 4"/>
          <p:cNvSpPr/>
          <p:nvPr/>
        </p:nvSpPr>
        <p:spPr>
          <a:xfrm>
            <a:off x="960120" y="1828800"/>
            <a:ext cx="3657600" cy="320040"/>
          </a:xfrm>
          <a:prstGeom prst="rect">
            <a:avLst/>
          </a:prstGeom>
          <a:noFill/>
          <a:ln/>
        </p:spPr>
        <p:txBody>
          <a:bodyPr wrap="square" lIns="0" tIns="0" rIns="0" bIns="0" rtlCol="0" anchor="ctr"/>
          <a:lstStyle/>
          <a:p>
            <a:pPr marL="0" indent="0">
              <a:buNone/>
            </a:pPr>
            <a:r>
              <a:rPr lang="en-US" sz="1200" b="1" kern="0" spc="200" dirty="0">
                <a:solidFill>
                  <a:srgbClr val="F4B942"/>
                </a:solidFill>
                <a:latin typeface="Calibri" pitchFamily="34" charset="0"/>
                <a:ea typeface="Calibri" pitchFamily="34" charset="-122"/>
                <a:cs typeface="Calibri" pitchFamily="34" charset="-120"/>
              </a:rPr>
              <a:t>BACKEND</a:t>
            </a:r>
            <a:endParaRPr lang="en-US" sz="1200" dirty="0"/>
          </a:p>
        </p:txBody>
      </p:sp>
      <p:sp>
        <p:nvSpPr>
          <p:cNvPr id="7" name="Text 5"/>
          <p:cNvSpPr/>
          <p:nvPr/>
        </p:nvSpPr>
        <p:spPr>
          <a:xfrm>
            <a:off x="960120" y="2121408"/>
            <a:ext cx="365760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vunis-be</a:t>
            </a:r>
            <a:endParaRPr lang="en-US" sz="2000" dirty="0"/>
          </a:p>
        </p:txBody>
      </p:sp>
      <p:sp>
        <p:nvSpPr>
          <p:cNvPr id="8" name="Shape 6"/>
          <p:cNvSpPr/>
          <p:nvPr/>
        </p:nvSpPr>
        <p:spPr>
          <a:xfrm>
            <a:off x="960120" y="2770632"/>
            <a:ext cx="82296" cy="82296"/>
          </a:xfrm>
          <a:prstGeom prst="ellipse">
            <a:avLst/>
          </a:prstGeom>
          <a:solidFill>
            <a:srgbClr val="F4B942"/>
          </a:solidFill>
          <a:ln/>
        </p:spPr>
      </p:sp>
      <p:sp>
        <p:nvSpPr>
          <p:cNvPr id="9" name="Text 7"/>
          <p:cNvSpPr/>
          <p:nvPr/>
        </p:nvSpPr>
        <p:spPr>
          <a:xfrm>
            <a:off x="1170432" y="262432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Core  </a:t>
            </a:r>
            <a:r>
              <a:rPr lang="en-US" sz="1150" dirty="0">
                <a:solidFill>
                  <a:srgbClr val="C4CDEE"/>
                </a:solidFill>
                <a:latin typeface="Calibri" pitchFamily="34" charset="0"/>
                <a:ea typeface="Calibri" pitchFamily="34" charset="-122"/>
                <a:cs typeface="Calibri" pitchFamily="34" charset="-120"/>
              </a:rPr>
              <a:t>Node.js · Express.js 5</a:t>
            </a:r>
            <a:endParaRPr lang="en-US" sz="1150" dirty="0"/>
          </a:p>
        </p:txBody>
      </p:sp>
      <p:sp>
        <p:nvSpPr>
          <p:cNvPr id="10" name="Shape 8"/>
          <p:cNvSpPr/>
          <p:nvPr/>
        </p:nvSpPr>
        <p:spPr>
          <a:xfrm>
            <a:off x="960120" y="3364992"/>
            <a:ext cx="82296" cy="82296"/>
          </a:xfrm>
          <a:prstGeom prst="ellipse">
            <a:avLst/>
          </a:prstGeom>
          <a:solidFill>
            <a:srgbClr val="F4B942"/>
          </a:solidFill>
          <a:ln/>
        </p:spPr>
      </p:sp>
      <p:sp>
        <p:nvSpPr>
          <p:cNvPr id="11" name="Text 9"/>
          <p:cNvSpPr/>
          <p:nvPr/>
        </p:nvSpPr>
        <p:spPr>
          <a:xfrm>
            <a:off x="1170432" y="321868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Cơ sở dữ liệu  </a:t>
            </a:r>
            <a:r>
              <a:rPr lang="en-US" sz="1150" dirty="0">
                <a:solidFill>
                  <a:srgbClr val="C4CDEE"/>
                </a:solidFill>
                <a:latin typeface="Calibri" pitchFamily="34" charset="0"/>
                <a:ea typeface="Calibri" pitchFamily="34" charset="-122"/>
                <a:cs typeface="Calibri" pitchFamily="34" charset="-120"/>
              </a:rPr>
              <a:t>PostgreSQL + Prisma ORM (driver adapter)</a:t>
            </a:r>
            <a:endParaRPr lang="en-US" sz="1150" dirty="0"/>
          </a:p>
        </p:txBody>
      </p:sp>
      <p:sp>
        <p:nvSpPr>
          <p:cNvPr id="12" name="Shape 10"/>
          <p:cNvSpPr/>
          <p:nvPr/>
        </p:nvSpPr>
        <p:spPr>
          <a:xfrm>
            <a:off x="960120" y="3959352"/>
            <a:ext cx="82296" cy="82296"/>
          </a:xfrm>
          <a:prstGeom prst="ellipse">
            <a:avLst/>
          </a:prstGeom>
          <a:solidFill>
            <a:srgbClr val="F4B942"/>
          </a:solidFill>
          <a:ln/>
        </p:spPr>
      </p:sp>
      <p:sp>
        <p:nvSpPr>
          <p:cNvPr id="13" name="Text 11"/>
          <p:cNvSpPr/>
          <p:nvPr/>
        </p:nvSpPr>
        <p:spPr>
          <a:xfrm>
            <a:off x="1170432" y="381304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Bảo mật &amp; xác thực  </a:t>
            </a:r>
            <a:r>
              <a:rPr lang="en-US" sz="1150" dirty="0">
                <a:solidFill>
                  <a:srgbClr val="C4CDEE"/>
                </a:solidFill>
                <a:latin typeface="Calibri" pitchFamily="34" charset="0"/>
                <a:ea typeface="Calibri" pitchFamily="34" charset="-122"/>
                <a:cs typeface="Calibri" pitchFamily="34" charset="-120"/>
              </a:rPr>
              <a:t>JWT (Cookie/Bearer), bcrypt.js, express-rate-limit, CORS</a:t>
            </a:r>
            <a:endParaRPr lang="en-US" sz="1150" dirty="0"/>
          </a:p>
        </p:txBody>
      </p:sp>
      <p:sp>
        <p:nvSpPr>
          <p:cNvPr id="14" name="Shape 12"/>
          <p:cNvSpPr/>
          <p:nvPr/>
        </p:nvSpPr>
        <p:spPr>
          <a:xfrm>
            <a:off x="960120" y="4553712"/>
            <a:ext cx="82296" cy="82296"/>
          </a:xfrm>
          <a:prstGeom prst="ellipse">
            <a:avLst/>
          </a:prstGeom>
          <a:solidFill>
            <a:srgbClr val="F4B942"/>
          </a:solidFill>
          <a:ln/>
        </p:spPr>
      </p:sp>
      <p:sp>
        <p:nvSpPr>
          <p:cNvPr id="15" name="Text 13"/>
          <p:cNvSpPr/>
          <p:nvPr/>
        </p:nvSpPr>
        <p:spPr>
          <a:xfrm>
            <a:off x="1170432" y="440740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Realtime  </a:t>
            </a:r>
            <a:r>
              <a:rPr lang="en-US" sz="1150" dirty="0">
                <a:solidFill>
                  <a:srgbClr val="C4CDEE"/>
                </a:solidFill>
                <a:latin typeface="Calibri" pitchFamily="34" charset="0"/>
                <a:ea typeface="Calibri" pitchFamily="34" charset="-122"/>
                <a:cs typeface="Calibri" pitchFamily="34" charset="-120"/>
              </a:rPr>
              <a:t>Socket.io — trạng thái online, thông báo tức thời</a:t>
            </a:r>
            <a:endParaRPr lang="en-US" sz="1150" dirty="0"/>
          </a:p>
        </p:txBody>
      </p:sp>
      <p:sp>
        <p:nvSpPr>
          <p:cNvPr id="16" name="Shape 14"/>
          <p:cNvSpPr/>
          <p:nvPr/>
        </p:nvSpPr>
        <p:spPr>
          <a:xfrm>
            <a:off x="960120" y="5148072"/>
            <a:ext cx="82296" cy="82296"/>
          </a:xfrm>
          <a:prstGeom prst="ellipse">
            <a:avLst/>
          </a:prstGeom>
          <a:solidFill>
            <a:srgbClr val="F4B942"/>
          </a:solidFill>
          <a:ln/>
        </p:spPr>
      </p:sp>
      <p:sp>
        <p:nvSpPr>
          <p:cNvPr id="17" name="Text 15"/>
          <p:cNvSpPr/>
          <p:nvPr/>
        </p:nvSpPr>
        <p:spPr>
          <a:xfrm>
            <a:off x="1170432" y="500176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Kiến trúc  </a:t>
            </a:r>
            <a:r>
              <a:rPr lang="en-US" sz="1150" dirty="0">
                <a:solidFill>
                  <a:srgbClr val="C4CDEE"/>
                </a:solidFill>
                <a:latin typeface="Calibri" pitchFamily="34" charset="0"/>
                <a:ea typeface="Calibri" pitchFamily="34" charset="-122"/>
                <a:cs typeface="Calibri" pitchFamily="34" charset="-120"/>
              </a:rPr>
              <a:t>6-Layer Modular Architecture theo từng module nghiệp vụ</a:t>
            </a:r>
            <a:endParaRPr lang="en-US" sz="1150" dirty="0"/>
          </a:p>
        </p:txBody>
      </p:sp>
      <p:sp>
        <p:nvSpPr>
          <p:cNvPr id="18" name="Shape 16"/>
          <p:cNvSpPr/>
          <p:nvPr/>
        </p:nvSpPr>
        <p:spPr>
          <a:xfrm>
            <a:off x="960120" y="5742432"/>
            <a:ext cx="82296" cy="82296"/>
          </a:xfrm>
          <a:prstGeom prst="ellipse">
            <a:avLst/>
          </a:prstGeom>
          <a:solidFill>
            <a:srgbClr val="F4B942"/>
          </a:solidFill>
          <a:ln/>
        </p:spPr>
      </p:sp>
      <p:sp>
        <p:nvSpPr>
          <p:cNvPr id="19" name="Text 17"/>
          <p:cNvSpPr/>
          <p:nvPr/>
        </p:nvSpPr>
        <p:spPr>
          <a:xfrm>
            <a:off x="1170432" y="559612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Khác  </a:t>
            </a:r>
            <a:r>
              <a:rPr lang="en-US" sz="1150" dirty="0">
                <a:solidFill>
                  <a:srgbClr val="C4CDEE"/>
                </a:solidFill>
                <a:latin typeface="Calibri" pitchFamily="34" charset="0"/>
                <a:ea typeface="Calibri" pitchFamily="34" charset="-122"/>
                <a:cs typeface="Calibri" pitchFamily="34" charset="-120"/>
              </a:rPr>
              <a:t>Nodemailer (OTP email), docx (xuất báo cáo Word)</a:t>
            </a:r>
            <a:endParaRPr lang="en-US" sz="1150" dirty="0"/>
          </a:p>
        </p:txBody>
      </p:sp>
      <p:sp>
        <p:nvSpPr>
          <p:cNvPr id="20" name="Shape 18"/>
          <p:cNvSpPr/>
          <p:nvPr/>
        </p:nvSpPr>
        <p:spPr>
          <a:xfrm>
            <a:off x="6199632" y="1600200"/>
            <a:ext cx="5349240" cy="4709160"/>
          </a:xfrm>
          <a:prstGeom prst="rect">
            <a:avLst/>
          </a:prstGeom>
          <a:solidFill>
            <a:srgbClr val="F4F6FC"/>
          </a:solidFill>
          <a:ln w="12700">
            <a:solidFill>
              <a:srgbClr val="E1E6F5"/>
            </a:solidFill>
            <a:prstDash val="solid"/>
          </a:ln>
        </p:spPr>
      </p:sp>
      <p:sp>
        <p:nvSpPr>
          <p:cNvPr id="21" name="Text 19"/>
          <p:cNvSpPr/>
          <p:nvPr/>
        </p:nvSpPr>
        <p:spPr>
          <a:xfrm>
            <a:off x="6519672" y="1828800"/>
            <a:ext cx="3657600" cy="32004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FRONTEND</a:t>
            </a:r>
            <a:endParaRPr lang="en-US" sz="1200" dirty="0"/>
          </a:p>
        </p:txBody>
      </p:sp>
      <p:sp>
        <p:nvSpPr>
          <p:cNvPr id="22" name="Text 20"/>
          <p:cNvSpPr/>
          <p:nvPr/>
        </p:nvSpPr>
        <p:spPr>
          <a:xfrm>
            <a:off x="6519672" y="2121408"/>
            <a:ext cx="365760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vunis-fe</a:t>
            </a:r>
            <a:endParaRPr lang="en-US" sz="2000" dirty="0"/>
          </a:p>
        </p:txBody>
      </p:sp>
      <p:sp>
        <p:nvSpPr>
          <p:cNvPr id="23" name="Shape 21"/>
          <p:cNvSpPr/>
          <p:nvPr/>
        </p:nvSpPr>
        <p:spPr>
          <a:xfrm>
            <a:off x="6519672" y="2770632"/>
            <a:ext cx="82296" cy="82296"/>
          </a:xfrm>
          <a:prstGeom prst="ellipse">
            <a:avLst/>
          </a:prstGeom>
          <a:solidFill>
            <a:srgbClr val="1E2761"/>
          </a:solidFill>
          <a:ln/>
        </p:spPr>
      </p:sp>
      <p:sp>
        <p:nvSpPr>
          <p:cNvPr id="24" name="Text 22"/>
          <p:cNvSpPr/>
          <p:nvPr/>
        </p:nvSpPr>
        <p:spPr>
          <a:xfrm>
            <a:off x="6729984" y="262432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Framework  </a:t>
            </a:r>
            <a:r>
              <a:rPr lang="en-US" sz="1150" dirty="0">
                <a:solidFill>
                  <a:srgbClr val="5A6580"/>
                </a:solidFill>
                <a:latin typeface="Calibri" pitchFamily="34" charset="0"/>
                <a:ea typeface="Calibri" pitchFamily="34" charset="-122"/>
                <a:cs typeface="Calibri" pitchFamily="34" charset="-120"/>
              </a:rPr>
              <a:t>Next.js 14 (React 18) — App Router</a:t>
            </a:r>
            <a:endParaRPr lang="en-US" sz="1150" dirty="0"/>
          </a:p>
        </p:txBody>
      </p:sp>
      <p:sp>
        <p:nvSpPr>
          <p:cNvPr id="25" name="Shape 23"/>
          <p:cNvSpPr/>
          <p:nvPr/>
        </p:nvSpPr>
        <p:spPr>
          <a:xfrm>
            <a:off x="6519672" y="3364992"/>
            <a:ext cx="82296" cy="82296"/>
          </a:xfrm>
          <a:prstGeom prst="ellipse">
            <a:avLst/>
          </a:prstGeom>
          <a:solidFill>
            <a:srgbClr val="1E2761"/>
          </a:solidFill>
          <a:ln/>
        </p:spPr>
      </p:sp>
      <p:sp>
        <p:nvSpPr>
          <p:cNvPr id="26" name="Text 24"/>
          <p:cNvSpPr/>
          <p:nvPr/>
        </p:nvSpPr>
        <p:spPr>
          <a:xfrm>
            <a:off x="6729984" y="321868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Giao diện  </a:t>
            </a:r>
            <a:r>
              <a:rPr lang="en-US" sz="1150" dirty="0">
                <a:solidFill>
                  <a:srgbClr val="5A6580"/>
                </a:solidFill>
                <a:latin typeface="Calibri" pitchFamily="34" charset="0"/>
                <a:ea typeface="Calibri" pitchFamily="34" charset="-122"/>
                <a:cs typeface="Calibri" pitchFamily="34" charset="-120"/>
              </a:rPr>
              <a:t>TailwindCSS + CSS thuần, Heroicons, Lucide</a:t>
            </a:r>
            <a:endParaRPr lang="en-US" sz="1150" dirty="0"/>
          </a:p>
        </p:txBody>
      </p:sp>
      <p:sp>
        <p:nvSpPr>
          <p:cNvPr id="27" name="Shape 25"/>
          <p:cNvSpPr/>
          <p:nvPr/>
        </p:nvSpPr>
        <p:spPr>
          <a:xfrm>
            <a:off x="6519672" y="3959352"/>
            <a:ext cx="82296" cy="82296"/>
          </a:xfrm>
          <a:prstGeom prst="ellipse">
            <a:avLst/>
          </a:prstGeom>
          <a:solidFill>
            <a:srgbClr val="1E2761"/>
          </a:solidFill>
          <a:ln/>
        </p:spPr>
      </p:sp>
      <p:sp>
        <p:nvSpPr>
          <p:cNvPr id="28" name="Text 26"/>
          <p:cNvSpPr/>
          <p:nvPr/>
        </p:nvSpPr>
        <p:spPr>
          <a:xfrm>
            <a:off x="6729984" y="381304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Kết nối API  </a:t>
            </a:r>
            <a:r>
              <a:rPr lang="en-US" sz="1150" dirty="0">
                <a:solidFill>
                  <a:srgbClr val="5A6580"/>
                </a:solidFill>
                <a:latin typeface="Calibri" pitchFamily="34" charset="0"/>
                <a:ea typeface="Calibri" pitchFamily="34" charset="-122"/>
                <a:cs typeface="Calibri" pitchFamily="34" charset="-120"/>
              </a:rPr>
              <a:t>Axios (REST) + Socket.io-client (realtime)</a:t>
            </a:r>
            <a:endParaRPr lang="en-US" sz="1150" dirty="0"/>
          </a:p>
        </p:txBody>
      </p:sp>
      <p:sp>
        <p:nvSpPr>
          <p:cNvPr id="29" name="Shape 27"/>
          <p:cNvSpPr/>
          <p:nvPr/>
        </p:nvSpPr>
        <p:spPr>
          <a:xfrm>
            <a:off x="6519672" y="4553712"/>
            <a:ext cx="82296" cy="82296"/>
          </a:xfrm>
          <a:prstGeom prst="ellipse">
            <a:avLst/>
          </a:prstGeom>
          <a:solidFill>
            <a:srgbClr val="1E2761"/>
          </a:solidFill>
          <a:ln/>
        </p:spPr>
      </p:sp>
      <p:sp>
        <p:nvSpPr>
          <p:cNvPr id="30" name="Text 28"/>
          <p:cNvSpPr/>
          <p:nvPr/>
        </p:nvSpPr>
        <p:spPr>
          <a:xfrm>
            <a:off x="6729984" y="440740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Trang chính  </a:t>
            </a:r>
            <a:r>
              <a:rPr lang="en-US" sz="1150" dirty="0">
                <a:solidFill>
                  <a:srgbClr val="5A6580"/>
                </a:solidFill>
                <a:latin typeface="Calibri" pitchFamily="34" charset="0"/>
                <a:ea typeface="Calibri" pitchFamily="34" charset="-122"/>
                <a:cs typeface="Calibri" pitchFamily="34" charset="-120"/>
              </a:rPr>
              <a:t>Dashboard quản trị, Workspace dự án, Profile</a:t>
            </a:r>
            <a:endParaRPr lang="en-US" sz="1150" dirty="0"/>
          </a:p>
        </p:txBody>
      </p:sp>
      <p:sp>
        <p:nvSpPr>
          <p:cNvPr id="31" name="Shape 29"/>
          <p:cNvSpPr/>
          <p:nvPr/>
        </p:nvSpPr>
        <p:spPr>
          <a:xfrm>
            <a:off x="6519672" y="5148072"/>
            <a:ext cx="82296" cy="82296"/>
          </a:xfrm>
          <a:prstGeom prst="ellipse">
            <a:avLst/>
          </a:prstGeom>
          <a:solidFill>
            <a:srgbClr val="1E2761"/>
          </a:solidFill>
          <a:ln/>
        </p:spPr>
      </p:sp>
      <p:sp>
        <p:nvSpPr>
          <p:cNvPr id="32" name="Text 30"/>
          <p:cNvSpPr/>
          <p:nvPr/>
        </p:nvSpPr>
        <p:spPr>
          <a:xfrm>
            <a:off x="6729984" y="500176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Trực quan hoá  </a:t>
            </a:r>
            <a:r>
              <a:rPr lang="en-US" sz="1150" dirty="0">
                <a:solidFill>
                  <a:srgbClr val="5A6580"/>
                </a:solidFill>
                <a:latin typeface="Calibri" pitchFamily="34" charset="0"/>
                <a:ea typeface="Calibri" pitchFamily="34" charset="-122"/>
                <a:cs typeface="Calibri" pitchFamily="34" charset="-120"/>
              </a:rPr>
              <a:t>Kanban, Gantt, PERT/V-Model, Spiral Diagram</a:t>
            </a:r>
            <a:endParaRPr lang="en-US" sz="1150" dirty="0"/>
          </a:p>
        </p:txBody>
      </p:sp>
      <p:sp>
        <p:nvSpPr>
          <p:cNvPr id="33" name="Shape 31"/>
          <p:cNvSpPr/>
          <p:nvPr/>
        </p:nvSpPr>
        <p:spPr>
          <a:xfrm>
            <a:off x="6519672" y="5742432"/>
            <a:ext cx="82296" cy="82296"/>
          </a:xfrm>
          <a:prstGeom prst="ellipse">
            <a:avLst/>
          </a:prstGeom>
          <a:solidFill>
            <a:srgbClr val="1E2761"/>
          </a:solidFill>
          <a:ln/>
        </p:spPr>
      </p:sp>
      <p:sp>
        <p:nvSpPr>
          <p:cNvPr id="34" name="Text 32"/>
          <p:cNvSpPr/>
          <p:nvPr/>
        </p:nvSpPr>
        <p:spPr>
          <a:xfrm>
            <a:off x="6729984" y="5596128"/>
            <a:ext cx="4617720" cy="502920"/>
          </a:xfrm>
          <a:prstGeom prst="rect">
            <a:avLst/>
          </a:prstGeom>
          <a:noFill/>
          <a:ln/>
        </p:spPr>
        <p:txBody>
          <a:bodyPr wrap="square" lIns="0" tIns="0" rIns="0" bIns="0" rtlCol="0" anchor="ctr"/>
          <a:lstStyle/>
          <a:p>
            <a:pPr marL="0" indent="0">
              <a:lnSpc>
                <a:spcPct val="115000"/>
              </a:lnSpc>
              <a:buNone/>
            </a:pPr>
            <a:r>
              <a:rPr lang="en-US" sz="1150" b="1" dirty="0">
                <a:solidFill>
                  <a:srgbClr val="1E2761"/>
                </a:solidFill>
                <a:latin typeface="Calibri" pitchFamily="34" charset="0"/>
                <a:ea typeface="Calibri" pitchFamily="34" charset="-122"/>
                <a:cs typeface="Calibri" pitchFamily="34" charset="-120"/>
              </a:rPr>
              <a:t>Chất lượng  </a:t>
            </a:r>
            <a:r>
              <a:rPr lang="en-US" sz="1150" dirty="0">
                <a:solidFill>
                  <a:srgbClr val="5A6580"/>
                </a:solidFill>
                <a:latin typeface="Calibri" pitchFamily="34" charset="0"/>
                <a:ea typeface="Calibri" pitchFamily="34" charset="-122"/>
                <a:cs typeface="Calibri" pitchFamily="34" charset="-120"/>
              </a:rPr>
              <a:t>ESLint (eslint-config-next)</a:t>
            </a:r>
            <a:endParaRPr lang="en-US" sz="115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sp>
        <p:nvSpPr>
          <p:cNvPr id="36" name="Text 34"/>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05</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KIẾN TRÚC HỆ THỐNG</a:t>
            </a:r>
            <a:endParaRPr lang="en-US" sz="1200" dirty="0"/>
          </a:p>
        </p:txBody>
      </p:sp>
      <p:sp>
        <p:nvSpPr>
          <p:cNvPr id="4" name="Text 2"/>
          <p:cNvSpPr/>
          <p:nvPr/>
        </p:nvSpPr>
        <p:spPr>
          <a:xfrm>
            <a:off x="640080" y="777240"/>
            <a:ext cx="82296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Mô hình 6 tầng Modular</a:t>
            </a:r>
            <a:endParaRPr lang="en-US" sz="3000" dirty="0"/>
          </a:p>
        </p:txBody>
      </p:sp>
      <p:sp>
        <p:nvSpPr>
          <p:cNvPr id="5" name="Text 3"/>
          <p:cNvSpPr/>
          <p:nvPr/>
        </p:nvSpPr>
        <p:spPr>
          <a:xfrm>
            <a:off x="640080" y="1417320"/>
            <a:ext cx="10789920" cy="457200"/>
          </a:xfrm>
          <a:prstGeom prst="rect">
            <a:avLst/>
          </a:prstGeom>
          <a:noFill/>
          <a:ln/>
        </p:spPr>
        <p:txBody>
          <a:bodyPr wrap="square" lIns="0" tIns="0" rIns="0" bIns="0" rtlCol="0" anchor="ctr"/>
          <a:lstStyle/>
          <a:p>
            <a:pPr marL="0" indent="0">
              <a:buNone/>
            </a:pPr>
            <a:r>
              <a:rPr lang="en-US" sz="1300" dirty="0">
                <a:solidFill>
                  <a:srgbClr val="5A6580"/>
                </a:solidFill>
                <a:latin typeface="Calibri" pitchFamily="34" charset="0"/>
                <a:ea typeface="Calibri" pitchFamily="34" charset="-122"/>
                <a:cs typeface="Calibri" pitchFamily="34" charset="-120"/>
              </a:rPr>
              <a:t>Mỗi module nghiệp vụ (auth, users, projects, tasks, sprints, comments...) được tách nghiêm ngặt thành 6 lớp trách nhiệm riêng biệt:</a:t>
            </a:r>
            <a:endParaRPr lang="en-US" sz="1300" dirty="0"/>
          </a:p>
        </p:txBody>
      </p:sp>
      <p:sp>
        <p:nvSpPr>
          <p:cNvPr id="6" name="Shape 4"/>
          <p:cNvSpPr/>
          <p:nvPr/>
        </p:nvSpPr>
        <p:spPr>
          <a:xfrm>
            <a:off x="640080" y="2103120"/>
            <a:ext cx="1714500" cy="2331720"/>
          </a:xfrm>
          <a:prstGeom prst="rect">
            <a:avLst/>
          </a:prstGeom>
          <a:solidFill>
            <a:srgbClr val="1E2761"/>
          </a:solidFill>
          <a:ln/>
        </p:spPr>
      </p:sp>
      <p:sp>
        <p:nvSpPr>
          <p:cNvPr id="7" name="Text 5"/>
          <p:cNvSpPr/>
          <p:nvPr/>
        </p:nvSpPr>
        <p:spPr>
          <a:xfrm>
            <a:off x="64008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71323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Schema</a:t>
            </a:r>
            <a:endParaRPr lang="en-US" sz="1350" dirty="0"/>
          </a:p>
        </p:txBody>
      </p:sp>
      <p:sp>
        <p:nvSpPr>
          <p:cNvPr id="9" name="Text 7"/>
          <p:cNvSpPr/>
          <p:nvPr/>
        </p:nvSpPr>
        <p:spPr>
          <a:xfrm>
            <a:off x="73152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Định nghĩa cấu trúc dữ liệu bằng Prisma Schema</a:t>
            </a:r>
            <a:endParaRPr lang="en-US" sz="950" dirty="0"/>
          </a:p>
        </p:txBody>
      </p:sp>
      <p:sp>
        <p:nvSpPr>
          <p:cNvPr id="10" name="Shape 8"/>
          <p:cNvSpPr/>
          <p:nvPr/>
        </p:nvSpPr>
        <p:spPr>
          <a:xfrm>
            <a:off x="2491740" y="2103120"/>
            <a:ext cx="1714500" cy="2331720"/>
          </a:xfrm>
          <a:prstGeom prst="rect">
            <a:avLst/>
          </a:prstGeom>
          <a:solidFill>
            <a:srgbClr val="2C3878"/>
          </a:solidFill>
          <a:ln/>
        </p:spPr>
      </p:sp>
      <p:sp>
        <p:nvSpPr>
          <p:cNvPr id="11" name="Text 9"/>
          <p:cNvSpPr/>
          <p:nvPr/>
        </p:nvSpPr>
        <p:spPr>
          <a:xfrm>
            <a:off x="249174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256489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DTO</a:t>
            </a:r>
            <a:endParaRPr lang="en-US" sz="1350" dirty="0"/>
          </a:p>
        </p:txBody>
      </p:sp>
      <p:sp>
        <p:nvSpPr>
          <p:cNvPr id="13" name="Text 11"/>
          <p:cNvSpPr/>
          <p:nvPr/>
        </p:nvSpPr>
        <p:spPr>
          <a:xfrm>
            <a:off x="258318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Validate &amp; làm sạch dữ liệu đầu vào</a:t>
            </a:r>
            <a:endParaRPr lang="en-US" sz="950" dirty="0"/>
          </a:p>
        </p:txBody>
      </p:sp>
      <p:sp>
        <p:nvSpPr>
          <p:cNvPr id="14" name="Shape 12"/>
          <p:cNvSpPr/>
          <p:nvPr/>
        </p:nvSpPr>
        <p:spPr>
          <a:xfrm>
            <a:off x="4343400" y="2103120"/>
            <a:ext cx="1714500" cy="2331720"/>
          </a:xfrm>
          <a:prstGeom prst="rect">
            <a:avLst/>
          </a:prstGeom>
          <a:solidFill>
            <a:srgbClr val="1E2761"/>
          </a:solidFill>
          <a:ln/>
        </p:spPr>
      </p:sp>
      <p:sp>
        <p:nvSpPr>
          <p:cNvPr id="15" name="Text 13"/>
          <p:cNvSpPr/>
          <p:nvPr/>
        </p:nvSpPr>
        <p:spPr>
          <a:xfrm>
            <a:off x="434340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441655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Repository</a:t>
            </a:r>
            <a:endParaRPr lang="en-US" sz="1350" dirty="0"/>
          </a:p>
        </p:txBody>
      </p:sp>
      <p:sp>
        <p:nvSpPr>
          <p:cNvPr id="17" name="Text 15"/>
          <p:cNvSpPr/>
          <p:nvPr/>
        </p:nvSpPr>
        <p:spPr>
          <a:xfrm>
            <a:off x="443484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Chỉ chứa truy vấn DB — không business logic</a:t>
            </a:r>
            <a:endParaRPr lang="en-US" sz="950" dirty="0"/>
          </a:p>
        </p:txBody>
      </p:sp>
      <p:sp>
        <p:nvSpPr>
          <p:cNvPr id="18" name="Shape 16"/>
          <p:cNvSpPr/>
          <p:nvPr/>
        </p:nvSpPr>
        <p:spPr>
          <a:xfrm>
            <a:off x="6195060" y="2103120"/>
            <a:ext cx="1714500" cy="2331720"/>
          </a:xfrm>
          <a:prstGeom prst="rect">
            <a:avLst/>
          </a:prstGeom>
          <a:solidFill>
            <a:srgbClr val="2C3878"/>
          </a:solidFill>
          <a:ln/>
        </p:spPr>
      </p:sp>
      <p:sp>
        <p:nvSpPr>
          <p:cNvPr id="19" name="Text 17"/>
          <p:cNvSpPr/>
          <p:nvPr/>
        </p:nvSpPr>
        <p:spPr>
          <a:xfrm>
            <a:off x="619506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4</a:t>
            </a:r>
            <a:endParaRPr lang="en-US" sz="2600" dirty="0"/>
          </a:p>
        </p:txBody>
      </p:sp>
      <p:sp>
        <p:nvSpPr>
          <p:cNvPr id="20" name="Text 18"/>
          <p:cNvSpPr/>
          <p:nvPr/>
        </p:nvSpPr>
        <p:spPr>
          <a:xfrm>
            <a:off x="626821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Service</a:t>
            </a:r>
            <a:endParaRPr lang="en-US" sz="1350" dirty="0"/>
          </a:p>
        </p:txBody>
      </p:sp>
      <p:sp>
        <p:nvSpPr>
          <p:cNvPr id="21" name="Text 19"/>
          <p:cNvSpPr/>
          <p:nvPr/>
        </p:nvSpPr>
        <p:spPr>
          <a:xfrm>
            <a:off x="628650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Xử lý nghiệp vụ (business logic) chính</a:t>
            </a:r>
            <a:endParaRPr lang="en-US" sz="950" dirty="0"/>
          </a:p>
        </p:txBody>
      </p:sp>
      <p:sp>
        <p:nvSpPr>
          <p:cNvPr id="22" name="Shape 20"/>
          <p:cNvSpPr/>
          <p:nvPr/>
        </p:nvSpPr>
        <p:spPr>
          <a:xfrm>
            <a:off x="8046720" y="2103120"/>
            <a:ext cx="1714500" cy="2331720"/>
          </a:xfrm>
          <a:prstGeom prst="rect">
            <a:avLst/>
          </a:prstGeom>
          <a:solidFill>
            <a:srgbClr val="1E2761"/>
          </a:solidFill>
          <a:ln/>
        </p:spPr>
      </p:sp>
      <p:sp>
        <p:nvSpPr>
          <p:cNvPr id="23" name="Text 21"/>
          <p:cNvSpPr/>
          <p:nvPr/>
        </p:nvSpPr>
        <p:spPr>
          <a:xfrm>
            <a:off x="804672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5</a:t>
            </a:r>
            <a:endParaRPr lang="en-US" sz="2600" dirty="0"/>
          </a:p>
        </p:txBody>
      </p:sp>
      <p:sp>
        <p:nvSpPr>
          <p:cNvPr id="24" name="Text 22"/>
          <p:cNvSpPr/>
          <p:nvPr/>
        </p:nvSpPr>
        <p:spPr>
          <a:xfrm>
            <a:off x="811987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Controller</a:t>
            </a:r>
            <a:endParaRPr lang="en-US" sz="1350" dirty="0"/>
          </a:p>
        </p:txBody>
      </p:sp>
      <p:sp>
        <p:nvSpPr>
          <p:cNvPr id="25" name="Text 23"/>
          <p:cNvSpPr/>
          <p:nvPr/>
        </p:nvSpPr>
        <p:spPr>
          <a:xfrm>
            <a:off x="813816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Nhận request, gọi service, trả JSON response</a:t>
            </a:r>
            <a:endParaRPr lang="en-US" sz="950" dirty="0"/>
          </a:p>
        </p:txBody>
      </p:sp>
      <p:sp>
        <p:nvSpPr>
          <p:cNvPr id="26" name="Shape 24"/>
          <p:cNvSpPr/>
          <p:nvPr/>
        </p:nvSpPr>
        <p:spPr>
          <a:xfrm>
            <a:off x="9898380" y="2103120"/>
            <a:ext cx="1714500" cy="2331720"/>
          </a:xfrm>
          <a:prstGeom prst="rect">
            <a:avLst/>
          </a:prstGeom>
          <a:solidFill>
            <a:srgbClr val="2C3878"/>
          </a:solidFill>
          <a:ln/>
        </p:spPr>
      </p:sp>
      <p:sp>
        <p:nvSpPr>
          <p:cNvPr id="27" name="Text 25"/>
          <p:cNvSpPr/>
          <p:nvPr/>
        </p:nvSpPr>
        <p:spPr>
          <a:xfrm>
            <a:off x="9898380" y="2231136"/>
            <a:ext cx="1714500" cy="457200"/>
          </a:xfrm>
          <a:prstGeom prst="rect">
            <a:avLst/>
          </a:prstGeom>
          <a:noFill/>
          <a:ln/>
        </p:spPr>
        <p:txBody>
          <a:bodyPr wrap="square" lIns="0" tIns="0" rIns="0" bIns="0" rtlCol="0" anchor="ctr"/>
          <a:lstStyle/>
          <a:p>
            <a:pPr marL="0" indent="0" algn="ctr">
              <a:buNone/>
            </a:pPr>
            <a:r>
              <a:rPr lang="en-US" sz="2600" b="1" dirty="0">
                <a:solidFill>
                  <a:srgbClr val="F4B942"/>
                </a:solidFill>
                <a:latin typeface="Cambria" pitchFamily="34" charset="0"/>
                <a:ea typeface="Cambria" pitchFamily="34" charset="-122"/>
                <a:cs typeface="Cambria" pitchFamily="34" charset="-120"/>
              </a:rPr>
              <a:t>6</a:t>
            </a:r>
            <a:endParaRPr lang="en-US" sz="2600" dirty="0"/>
          </a:p>
        </p:txBody>
      </p:sp>
      <p:sp>
        <p:nvSpPr>
          <p:cNvPr id="28" name="Text 26"/>
          <p:cNvSpPr/>
          <p:nvPr/>
        </p:nvSpPr>
        <p:spPr>
          <a:xfrm>
            <a:off x="9971532" y="2743200"/>
            <a:ext cx="1568196" cy="3657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Route</a:t>
            </a:r>
            <a:endParaRPr lang="en-US" sz="1350" dirty="0"/>
          </a:p>
        </p:txBody>
      </p:sp>
      <p:sp>
        <p:nvSpPr>
          <p:cNvPr id="29" name="Text 27"/>
          <p:cNvSpPr/>
          <p:nvPr/>
        </p:nvSpPr>
        <p:spPr>
          <a:xfrm>
            <a:off x="9989820" y="3127248"/>
            <a:ext cx="1531620" cy="1234440"/>
          </a:xfrm>
          <a:prstGeom prst="rect">
            <a:avLst/>
          </a:prstGeom>
          <a:noFill/>
          <a:ln/>
        </p:spPr>
        <p:txBody>
          <a:bodyPr wrap="square" lIns="0" tIns="0" rIns="0" bIns="0" rtlCol="0" anchor="ctr"/>
          <a:lstStyle/>
          <a:p>
            <a:pPr marL="0" indent="0" algn="ctr">
              <a:lnSpc>
                <a:spcPct val="115000"/>
              </a:lnSpc>
              <a:buNone/>
            </a:pPr>
            <a:r>
              <a:rPr lang="en-US" sz="950" dirty="0">
                <a:solidFill>
                  <a:srgbClr val="C4CDEE"/>
                </a:solidFill>
                <a:latin typeface="Calibri" pitchFamily="34" charset="0"/>
                <a:ea typeface="Calibri" pitchFamily="34" charset="-122"/>
                <a:cs typeface="Calibri" pitchFamily="34" charset="-120"/>
              </a:rPr>
              <a:t>Định tuyến URL + middleware Auth / RBAC</a:t>
            </a:r>
            <a:endParaRPr lang="en-US" sz="950" dirty="0"/>
          </a:p>
        </p:txBody>
      </p:sp>
      <p:sp>
        <p:nvSpPr>
          <p:cNvPr id="30" name="Text 28"/>
          <p:cNvSpPr/>
          <p:nvPr/>
        </p:nvSpPr>
        <p:spPr>
          <a:xfrm>
            <a:off x="640080" y="4709160"/>
            <a:ext cx="5486400" cy="274320"/>
          </a:xfrm>
          <a:prstGeom prst="rect">
            <a:avLst/>
          </a:prstGeom>
          <a:noFill/>
          <a:ln/>
        </p:spPr>
        <p:txBody>
          <a:bodyPr wrap="square" lIns="0" tIns="0" rIns="0" bIns="0" rtlCol="0" anchor="ctr"/>
          <a:lstStyle/>
          <a:p>
            <a:pPr marL="0" indent="0">
              <a:buNone/>
            </a:pPr>
            <a:r>
              <a:rPr lang="en-US" sz="1100" b="1" kern="0" spc="150" dirty="0">
                <a:solidFill>
                  <a:srgbClr val="5A6B94"/>
                </a:solidFill>
                <a:latin typeface="Calibri" pitchFamily="34" charset="0"/>
                <a:ea typeface="Calibri" pitchFamily="34" charset="-122"/>
                <a:cs typeface="Calibri" pitchFamily="34" charset="-120"/>
              </a:rPr>
              <a:t>16 MODULE NGHIỆP VỤ</a:t>
            </a:r>
            <a:endParaRPr lang="en-US" sz="1100" dirty="0"/>
          </a:p>
        </p:txBody>
      </p:sp>
      <p:sp>
        <p:nvSpPr>
          <p:cNvPr id="31" name="Text 29"/>
          <p:cNvSpPr/>
          <p:nvPr/>
        </p:nvSpPr>
        <p:spPr>
          <a:xfrm>
            <a:off x="640080" y="5010912"/>
            <a:ext cx="10881360" cy="822960"/>
          </a:xfrm>
          <a:prstGeom prst="rect">
            <a:avLst/>
          </a:prstGeom>
          <a:noFill/>
          <a:ln/>
        </p:spPr>
        <p:txBody>
          <a:bodyPr wrap="square" lIns="0" tIns="0" rIns="0" bIns="0" rtlCol="0" anchor="ctr"/>
          <a:lstStyle/>
          <a:p>
            <a:pPr marL="0" indent="0">
              <a:lnSpc>
                <a:spcPct val="135000"/>
              </a:lnSpc>
              <a:buNone/>
            </a:pPr>
            <a:r>
              <a:rPr lang="en-US" sz="1200" dirty="0">
                <a:solidFill>
                  <a:srgbClr val="1B2340"/>
                </a:solidFill>
                <a:latin typeface="Calibri" pitchFamily="34" charset="0"/>
                <a:ea typeface="Calibri" pitchFamily="34" charset="-122"/>
                <a:cs typeface="Calibri" pitchFamily="34" charset="-120"/>
              </a:rPr>
              <a:t>auth · users · projects · projectPhases · projectMembers · tasks · sprints · comments · gantt · labels · roles · permissions · notifications · attachments · activityLogs · userStatusLog</a:t>
            </a:r>
            <a:endParaRPr lang="en-US" sz="1200" dirty="0"/>
          </a:p>
        </p:txBody>
      </p:sp>
      <p:sp>
        <p:nvSpPr>
          <p:cNvPr id="32" name="Shape 30"/>
          <p:cNvSpPr/>
          <p:nvPr/>
        </p:nvSpPr>
        <p:spPr>
          <a:xfrm>
            <a:off x="640080" y="5943600"/>
            <a:ext cx="10908792" cy="502920"/>
          </a:xfrm>
          <a:prstGeom prst="rect">
            <a:avLst/>
          </a:prstGeom>
          <a:solidFill>
            <a:srgbClr val="F4F6FC"/>
          </a:solidFill>
          <a:ln/>
        </p:spPr>
      </p:sp>
      <p:sp>
        <p:nvSpPr>
          <p:cNvPr id="33" name="Text 31"/>
          <p:cNvSpPr/>
          <p:nvPr/>
        </p:nvSpPr>
        <p:spPr>
          <a:xfrm>
            <a:off x="868680" y="5943600"/>
            <a:ext cx="10424160" cy="502920"/>
          </a:xfrm>
          <a:prstGeom prst="rect">
            <a:avLst/>
          </a:prstGeom>
          <a:noFill/>
          <a:ln/>
        </p:spPr>
        <p:txBody>
          <a:bodyPr wrap="square" lIns="0" tIns="0" rIns="0" bIns="0" rtlCol="0" anchor="ctr"/>
          <a:lstStyle/>
          <a:p>
            <a:pPr marL="0" indent="0">
              <a:buNone/>
            </a:pPr>
            <a:r>
              <a:rPr lang="en-US" sz="1150" i="1" dirty="0">
                <a:solidFill>
                  <a:srgbClr val="1E2761"/>
                </a:solidFill>
                <a:latin typeface="Calibri" pitchFamily="34" charset="0"/>
                <a:ea typeface="Calibri" pitchFamily="34" charset="-122"/>
                <a:cs typeface="Calibri" pitchFamily="34" charset="-120"/>
              </a:rPr>
              <a:t>Kết quả: mỗi module độc lập, có thể kiểm thử và thay đổi tầng dữ liệu riêng mà không ảnh hưởng business logic ở tầng Service.</a:t>
            </a:r>
            <a:endParaRPr lang="en-US" sz="115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sp>
        <p:nvSpPr>
          <p:cNvPr id="35" name="Text 33"/>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06</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GIAO TIẾP DỮ LIỆU</a:t>
            </a:r>
            <a:endParaRPr lang="en-US" sz="1200" dirty="0"/>
          </a:p>
        </p:txBody>
      </p:sp>
      <p:sp>
        <p:nvSpPr>
          <p:cNvPr id="4" name="Text 2"/>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Bộ API Endpoints chính</a:t>
            </a:r>
            <a:endParaRPr lang="en-US" sz="3000" dirty="0"/>
          </a:p>
        </p:txBody>
      </p:sp>
      <p:sp>
        <p:nvSpPr>
          <p:cNvPr id="5" name="Text 3"/>
          <p:cNvSpPr/>
          <p:nvPr/>
        </p:nvSpPr>
        <p:spPr>
          <a:xfrm>
            <a:off x="640080" y="1417320"/>
            <a:ext cx="10789920" cy="365760"/>
          </a:xfrm>
          <a:prstGeom prst="rect">
            <a:avLst/>
          </a:prstGeom>
          <a:noFill/>
          <a:ln/>
        </p:spPr>
        <p:txBody>
          <a:bodyPr wrap="square" lIns="0" tIns="0" rIns="0" bIns="0" rtlCol="0" anchor="ctr"/>
          <a:lstStyle/>
          <a:p>
            <a:pPr marL="0" indent="0">
              <a:buNone/>
            </a:pPr>
            <a:r>
              <a:rPr lang="en-US" sz="1300" dirty="0">
                <a:solidFill>
                  <a:srgbClr val="5A6580"/>
                </a:solidFill>
                <a:latin typeface="Calibri" pitchFamily="34" charset="0"/>
                <a:ea typeface="Calibri" pitchFamily="34" charset="-122"/>
                <a:cs typeface="Calibri" pitchFamily="34" charset="-120"/>
              </a:rPr>
              <a:t>Toàn hệ thống cung cấp hơn 30 endpoint RESTful, chia theo 5 nhóm nghiệp vụ cốt lõi:</a:t>
            </a:r>
            <a:endParaRPr lang="en-US" sz="1300" dirty="0"/>
          </a:p>
        </p:txBody>
      </p:sp>
      <p:sp>
        <p:nvSpPr>
          <p:cNvPr id="6" name="Shape 4"/>
          <p:cNvSpPr/>
          <p:nvPr/>
        </p:nvSpPr>
        <p:spPr>
          <a:xfrm>
            <a:off x="640080" y="1965960"/>
            <a:ext cx="2139696" cy="4160520"/>
          </a:xfrm>
          <a:prstGeom prst="rect">
            <a:avLst/>
          </a:prstGeom>
          <a:solidFill>
            <a:srgbClr val="1E2761"/>
          </a:solidFill>
          <a:ln/>
        </p:spPr>
      </p:sp>
      <p:sp>
        <p:nvSpPr>
          <p:cNvPr id="7" name="Text 5"/>
          <p:cNvSpPr/>
          <p:nvPr/>
        </p:nvSpPr>
        <p:spPr>
          <a:xfrm>
            <a:off x="777240" y="2148840"/>
            <a:ext cx="1865376" cy="320040"/>
          </a:xfrm>
          <a:prstGeom prst="rect">
            <a:avLst/>
          </a:prstGeom>
          <a:noFill/>
          <a:ln/>
        </p:spPr>
        <p:txBody>
          <a:bodyPr wrap="square" lIns="0" tIns="0" rIns="0" bIns="0" rtlCol="0" anchor="ctr"/>
          <a:lstStyle/>
          <a:p>
            <a:pPr marL="0" indent="0">
              <a:buNone/>
            </a:pPr>
            <a:r>
              <a:rPr lang="en-US" sz="1200" b="1" dirty="0">
                <a:solidFill>
                  <a:srgbClr val="F4B942"/>
                </a:solidFill>
                <a:latin typeface="Calibri" pitchFamily="34" charset="0"/>
                <a:ea typeface="Calibri" pitchFamily="34" charset="-122"/>
                <a:cs typeface="Calibri" pitchFamily="34" charset="-120"/>
              </a:rPr>
              <a:t>/api/auth</a:t>
            </a:r>
            <a:endParaRPr lang="en-US" sz="1200" dirty="0"/>
          </a:p>
        </p:txBody>
      </p:sp>
      <p:sp>
        <p:nvSpPr>
          <p:cNvPr id="8" name="Text 6"/>
          <p:cNvSpPr/>
          <p:nvPr/>
        </p:nvSpPr>
        <p:spPr>
          <a:xfrm>
            <a:off x="777240" y="2468880"/>
            <a:ext cx="1865376" cy="6858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mbria" pitchFamily="34" charset="0"/>
                <a:ea typeface="Cambria" pitchFamily="34" charset="-122"/>
                <a:cs typeface="Cambria" pitchFamily="34" charset="-120"/>
              </a:rPr>
              <a:t>Xác thực &amp; Bảo mật</a:t>
            </a:r>
            <a:endParaRPr lang="en-US" sz="1350" dirty="0"/>
          </a:p>
        </p:txBody>
      </p:sp>
      <p:sp>
        <p:nvSpPr>
          <p:cNvPr id="9" name="Shape 7"/>
          <p:cNvSpPr/>
          <p:nvPr/>
        </p:nvSpPr>
        <p:spPr>
          <a:xfrm>
            <a:off x="777240" y="3401568"/>
            <a:ext cx="64008" cy="64008"/>
          </a:xfrm>
          <a:prstGeom prst="ellipse">
            <a:avLst/>
          </a:prstGeom>
          <a:solidFill>
            <a:srgbClr val="F4B942"/>
          </a:solidFill>
          <a:ln/>
        </p:spPr>
      </p:sp>
      <p:sp>
        <p:nvSpPr>
          <p:cNvPr id="10" name="Text 8"/>
          <p:cNvSpPr/>
          <p:nvPr/>
        </p:nvSpPr>
        <p:spPr>
          <a:xfrm>
            <a:off x="932688" y="328269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Đăng ký / Đăng nhập / Đăng xuất</a:t>
            </a:r>
            <a:endParaRPr lang="en-US" sz="930" dirty="0"/>
          </a:p>
        </p:txBody>
      </p:sp>
      <p:sp>
        <p:nvSpPr>
          <p:cNvPr id="11" name="Shape 9"/>
          <p:cNvSpPr/>
          <p:nvPr/>
        </p:nvSpPr>
        <p:spPr>
          <a:xfrm>
            <a:off x="777240" y="4178808"/>
            <a:ext cx="64008" cy="64008"/>
          </a:xfrm>
          <a:prstGeom prst="ellipse">
            <a:avLst/>
          </a:prstGeom>
          <a:solidFill>
            <a:srgbClr val="F4B942"/>
          </a:solidFill>
          <a:ln/>
        </p:spPr>
      </p:sp>
      <p:sp>
        <p:nvSpPr>
          <p:cNvPr id="12" name="Text 10"/>
          <p:cNvSpPr/>
          <p:nvPr/>
        </p:nvSpPr>
        <p:spPr>
          <a:xfrm>
            <a:off x="932688" y="405993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Cấp phát &amp; xác thực JWT</a:t>
            </a:r>
            <a:endParaRPr lang="en-US" sz="930" dirty="0"/>
          </a:p>
        </p:txBody>
      </p:sp>
      <p:sp>
        <p:nvSpPr>
          <p:cNvPr id="13" name="Shape 11"/>
          <p:cNvSpPr/>
          <p:nvPr/>
        </p:nvSpPr>
        <p:spPr>
          <a:xfrm>
            <a:off x="777240" y="4956048"/>
            <a:ext cx="64008" cy="64008"/>
          </a:xfrm>
          <a:prstGeom prst="ellipse">
            <a:avLst/>
          </a:prstGeom>
          <a:solidFill>
            <a:srgbClr val="F4B942"/>
          </a:solidFill>
          <a:ln/>
        </p:spPr>
      </p:sp>
      <p:sp>
        <p:nvSpPr>
          <p:cNvPr id="14" name="Text 12"/>
          <p:cNvSpPr/>
          <p:nvPr/>
        </p:nvSpPr>
        <p:spPr>
          <a:xfrm>
            <a:off x="932688" y="483717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Quên &amp; đặt lại mật khẩu (OTP)</a:t>
            </a:r>
            <a:endParaRPr lang="en-US" sz="930" dirty="0"/>
          </a:p>
        </p:txBody>
      </p:sp>
      <p:sp>
        <p:nvSpPr>
          <p:cNvPr id="15" name="Shape 13"/>
          <p:cNvSpPr/>
          <p:nvPr/>
        </p:nvSpPr>
        <p:spPr>
          <a:xfrm>
            <a:off x="2889504" y="1965960"/>
            <a:ext cx="2139696" cy="4160520"/>
          </a:xfrm>
          <a:prstGeom prst="rect">
            <a:avLst/>
          </a:prstGeom>
          <a:solidFill>
            <a:srgbClr val="2C3878"/>
          </a:solidFill>
          <a:ln/>
        </p:spPr>
      </p:sp>
      <p:sp>
        <p:nvSpPr>
          <p:cNvPr id="16" name="Text 14"/>
          <p:cNvSpPr/>
          <p:nvPr/>
        </p:nvSpPr>
        <p:spPr>
          <a:xfrm>
            <a:off x="3026664" y="2148840"/>
            <a:ext cx="1865376" cy="320040"/>
          </a:xfrm>
          <a:prstGeom prst="rect">
            <a:avLst/>
          </a:prstGeom>
          <a:noFill/>
          <a:ln/>
        </p:spPr>
        <p:txBody>
          <a:bodyPr wrap="square" lIns="0" tIns="0" rIns="0" bIns="0" rtlCol="0" anchor="ctr"/>
          <a:lstStyle/>
          <a:p>
            <a:pPr marL="0" indent="0">
              <a:buNone/>
            </a:pPr>
            <a:r>
              <a:rPr lang="en-US" sz="1200" b="1" dirty="0">
                <a:solidFill>
                  <a:srgbClr val="F4B942"/>
                </a:solidFill>
                <a:latin typeface="Calibri" pitchFamily="34" charset="0"/>
                <a:ea typeface="Calibri" pitchFamily="34" charset="-122"/>
                <a:cs typeface="Calibri" pitchFamily="34" charset="-120"/>
              </a:rPr>
              <a:t>/api/users</a:t>
            </a:r>
            <a:endParaRPr lang="en-US" sz="1200" dirty="0"/>
          </a:p>
        </p:txBody>
      </p:sp>
      <p:sp>
        <p:nvSpPr>
          <p:cNvPr id="17" name="Text 15"/>
          <p:cNvSpPr/>
          <p:nvPr/>
        </p:nvSpPr>
        <p:spPr>
          <a:xfrm>
            <a:off x="3026664" y="2468880"/>
            <a:ext cx="1865376" cy="6858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mbria" pitchFamily="34" charset="0"/>
                <a:ea typeface="Cambria" pitchFamily="34" charset="-122"/>
                <a:cs typeface="Cambria" pitchFamily="34" charset="-120"/>
              </a:rPr>
              <a:t>Người dùng &amp; Dashboard</a:t>
            </a:r>
            <a:endParaRPr lang="en-US" sz="1350" dirty="0"/>
          </a:p>
        </p:txBody>
      </p:sp>
      <p:sp>
        <p:nvSpPr>
          <p:cNvPr id="18" name="Shape 16"/>
          <p:cNvSpPr/>
          <p:nvPr/>
        </p:nvSpPr>
        <p:spPr>
          <a:xfrm>
            <a:off x="3026664" y="3401568"/>
            <a:ext cx="64008" cy="64008"/>
          </a:xfrm>
          <a:prstGeom prst="ellipse">
            <a:avLst/>
          </a:prstGeom>
          <a:solidFill>
            <a:srgbClr val="F4B942"/>
          </a:solidFill>
          <a:ln/>
        </p:spPr>
      </p:sp>
      <p:sp>
        <p:nvSpPr>
          <p:cNvPr id="19" name="Text 17"/>
          <p:cNvSpPr/>
          <p:nvPr/>
        </p:nvSpPr>
        <p:spPr>
          <a:xfrm>
            <a:off x="3182112" y="328269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Danh sách, hồ sơ, cập nhật profile</a:t>
            </a:r>
            <a:endParaRPr lang="en-US" sz="930" dirty="0"/>
          </a:p>
        </p:txBody>
      </p:sp>
      <p:sp>
        <p:nvSpPr>
          <p:cNvPr id="20" name="Shape 18"/>
          <p:cNvSpPr/>
          <p:nvPr/>
        </p:nvSpPr>
        <p:spPr>
          <a:xfrm>
            <a:off x="3026664" y="4178808"/>
            <a:ext cx="64008" cy="64008"/>
          </a:xfrm>
          <a:prstGeom prst="ellipse">
            <a:avLst/>
          </a:prstGeom>
          <a:solidFill>
            <a:srgbClr val="F4B942"/>
          </a:solidFill>
          <a:ln/>
        </p:spPr>
      </p:sp>
      <p:sp>
        <p:nvSpPr>
          <p:cNvPr id="21" name="Text 19"/>
          <p:cNvSpPr/>
          <p:nvPr/>
        </p:nvSpPr>
        <p:spPr>
          <a:xfrm>
            <a:off x="3182112" y="405993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Thống kê log 7 ngày (Dashboard)</a:t>
            </a:r>
            <a:endParaRPr lang="en-US" sz="930" dirty="0"/>
          </a:p>
        </p:txBody>
      </p:sp>
      <p:sp>
        <p:nvSpPr>
          <p:cNvPr id="22" name="Shape 20"/>
          <p:cNvSpPr/>
          <p:nvPr/>
        </p:nvSpPr>
        <p:spPr>
          <a:xfrm>
            <a:off x="3026664" y="4956048"/>
            <a:ext cx="64008" cy="64008"/>
          </a:xfrm>
          <a:prstGeom prst="ellipse">
            <a:avLst/>
          </a:prstGeom>
          <a:solidFill>
            <a:srgbClr val="F4B942"/>
          </a:solidFill>
          <a:ln/>
        </p:spPr>
      </p:sp>
      <p:sp>
        <p:nvSpPr>
          <p:cNvPr id="23" name="Text 21"/>
          <p:cNvSpPr/>
          <p:nvPr/>
        </p:nvSpPr>
        <p:spPr>
          <a:xfrm>
            <a:off x="3182112" y="483717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Khoá / mở khoá, phân quyền role</a:t>
            </a:r>
            <a:endParaRPr lang="en-US" sz="930" dirty="0"/>
          </a:p>
        </p:txBody>
      </p:sp>
      <p:sp>
        <p:nvSpPr>
          <p:cNvPr id="24" name="Shape 22"/>
          <p:cNvSpPr/>
          <p:nvPr/>
        </p:nvSpPr>
        <p:spPr>
          <a:xfrm>
            <a:off x="5138928" y="1965960"/>
            <a:ext cx="2139696" cy="4160520"/>
          </a:xfrm>
          <a:prstGeom prst="rect">
            <a:avLst/>
          </a:prstGeom>
          <a:solidFill>
            <a:srgbClr val="1E2761"/>
          </a:solidFill>
          <a:ln/>
        </p:spPr>
      </p:sp>
      <p:sp>
        <p:nvSpPr>
          <p:cNvPr id="25" name="Text 23"/>
          <p:cNvSpPr/>
          <p:nvPr/>
        </p:nvSpPr>
        <p:spPr>
          <a:xfrm>
            <a:off x="5276088" y="2148840"/>
            <a:ext cx="1865376" cy="320040"/>
          </a:xfrm>
          <a:prstGeom prst="rect">
            <a:avLst/>
          </a:prstGeom>
          <a:noFill/>
          <a:ln/>
        </p:spPr>
        <p:txBody>
          <a:bodyPr wrap="square" lIns="0" tIns="0" rIns="0" bIns="0" rtlCol="0" anchor="ctr"/>
          <a:lstStyle/>
          <a:p>
            <a:pPr marL="0" indent="0">
              <a:buNone/>
            </a:pPr>
            <a:r>
              <a:rPr lang="en-US" sz="1200" b="1" dirty="0">
                <a:solidFill>
                  <a:srgbClr val="F4B942"/>
                </a:solidFill>
                <a:latin typeface="Calibri" pitchFamily="34" charset="0"/>
                <a:ea typeface="Calibri" pitchFamily="34" charset="-122"/>
                <a:cs typeface="Calibri" pitchFamily="34" charset="-120"/>
              </a:rPr>
              <a:t>/api/projects</a:t>
            </a:r>
            <a:endParaRPr lang="en-US" sz="1200" dirty="0"/>
          </a:p>
        </p:txBody>
      </p:sp>
      <p:sp>
        <p:nvSpPr>
          <p:cNvPr id="26" name="Text 24"/>
          <p:cNvSpPr/>
          <p:nvPr/>
        </p:nvSpPr>
        <p:spPr>
          <a:xfrm>
            <a:off x="5276088" y="2468880"/>
            <a:ext cx="1865376" cy="6858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mbria" pitchFamily="34" charset="0"/>
                <a:ea typeface="Cambria" pitchFamily="34" charset="-122"/>
                <a:cs typeface="Cambria" pitchFamily="34" charset="-120"/>
              </a:rPr>
              <a:t>Dự án &amp; Cây Dự án con</a:t>
            </a:r>
            <a:endParaRPr lang="en-US" sz="1350" dirty="0"/>
          </a:p>
        </p:txBody>
      </p:sp>
      <p:sp>
        <p:nvSpPr>
          <p:cNvPr id="27" name="Shape 25"/>
          <p:cNvSpPr/>
          <p:nvPr/>
        </p:nvSpPr>
        <p:spPr>
          <a:xfrm>
            <a:off x="5276088" y="3401568"/>
            <a:ext cx="64008" cy="64008"/>
          </a:xfrm>
          <a:prstGeom prst="ellipse">
            <a:avLst/>
          </a:prstGeom>
          <a:solidFill>
            <a:srgbClr val="F4B942"/>
          </a:solidFill>
          <a:ln/>
        </p:spPr>
      </p:sp>
      <p:sp>
        <p:nvSpPr>
          <p:cNvPr id="28" name="Text 26"/>
          <p:cNvSpPr/>
          <p:nvPr/>
        </p:nvSpPr>
        <p:spPr>
          <a:xfrm>
            <a:off x="5431536" y="328269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Danh sách dự án gốc &amp; dự án con</a:t>
            </a:r>
            <a:endParaRPr lang="en-US" sz="930" dirty="0"/>
          </a:p>
        </p:txBody>
      </p:sp>
      <p:sp>
        <p:nvSpPr>
          <p:cNvPr id="29" name="Shape 27"/>
          <p:cNvSpPr/>
          <p:nvPr/>
        </p:nvSpPr>
        <p:spPr>
          <a:xfrm>
            <a:off x="5276088" y="4178808"/>
            <a:ext cx="64008" cy="64008"/>
          </a:xfrm>
          <a:prstGeom prst="ellipse">
            <a:avLst/>
          </a:prstGeom>
          <a:solidFill>
            <a:srgbClr val="F4B942"/>
          </a:solidFill>
          <a:ln/>
        </p:spPr>
      </p:sp>
      <p:sp>
        <p:nvSpPr>
          <p:cNvPr id="30" name="Text 28"/>
          <p:cNvSpPr/>
          <p:nvPr/>
        </p:nvSpPr>
        <p:spPr>
          <a:xfrm>
            <a:off x="5431536" y="405993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Tạo / cập nhật / xoá dự án</a:t>
            </a:r>
            <a:endParaRPr lang="en-US" sz="930" dirty="0"/>
          </a:p>
        </p:txBody>
      </p:sp>
      <p:sp>
        <p:nvSpPr>
          <p:cNvPr id="31" name="Shape 29"/>
          <p:cNvSpPr/>
          <p:nvPr/>
        </p:nvSpPr>
        <p:spPr>
          <a:xfrm>
            <a:off x="5276088" y="4956048"/>
            <a:ext cx="64008" cy="64008"/>
          </a:xfrm>
          <a:prstGeom prst="ellipse">
            <a:avLst/>
          </a:prstGeom>
          <a:solidFill>
            <a:srgbClr val="F4B942"/>
          </a:solidFill>
          <a:ln/>
        </p:spPr>
      </p:sp>
      <p:sp>
        <p:nvSpPr>
          <p:cNvPr id="32" name="Text 30"/>
          <p:cNvSpPr/>
          <p:nvPr/>
        </p:nvSpPr>
        <p:spPr>
          <a:xfrm>
            <a:off x="5431536" y="483717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Thêm thành viên vào dự án</a:t>
            </a:r>
            <a:endParaRPr lang="en-US" sz="930" dirty="0"/>
          </a:p>
        </p:txBody>
      </p:sp>
      <p:sp>
        <p:nvSpPr>
          <p:cNvPr id="33" name="Shape 31"/>
          <p:cNvSpPr/>
          <p:nvPr/>
        </p:nvSpPr>
        <p:spPr>
          <a:xfrm>
            <a:off x="7388352" y="1965960"/>
            <a:ext cx="2139696" cy="4160520"/>
          </a:xfrm>
          <a:prstGeom prst="rect">
            <a:avLst/>
          </a:prstGeom>
          <a:solidFill>
            <a:srgbClr val="2C3878"/>
          </a:solidFill>
          <a:ln/>
        </p:spPr>
      </p:sp>
      <p:sp>
        <p:nvSpPr>
          <p:cNvPr id="34" name="Text 32"/>
          <p:cNvSpPr/>
          <p:nvPr/>
        </p:nvSpPr>
        <p:spPr>
          <a:xfrm>
            <a:off x="7525512" y="2148840"/>
            <a:ext cx="1865376" cy="320040"/>
          </a:xfrm>
          <a:prstGeom prst="rect">
            <a:avLst/>
          </a:prstGeom>
          <a:noFill/>
          <a:ln/>
        </p:spPr>
        <p:txBody>
          <a:bodyPr wrap="square" lIns="0" tIns="0" rIns="0" bIns="0" rtlCol="0" anchor="ctr"/>
          <a:lstStyle/>
          <a:p>
            <a:pPr marL="0" indent="0">
              <a:buNone/>
            </a:pPr>
            <a:r>
              <a:rPr lang="en-US" sz="1200" b="1" dirty="0">
                <a:solidFill>
                  <a:srgbClr val="F4B942"/>
                </a:solidFill>
                <a:latin typeface="Calibri" pitchFamily="34" charset="0"/>
                <a:ea typeface="Calibri" pitchFamily="34" charset="-122"/>
                <a:cs typeface="Calibri" pitchFamily="34" charset="-120"/>
              </a:rPr>
              <a:t>/api/tasks</a:t>
            </a:r>
            <a:endParaRPr lang="en-US" sz="1200" dirty="0"/>
          </a:p>
        </p:txBody>
      </p:sp>
      <p:sp>
        <p:nvSpPr>
          <p:cNvPr id="35" name="Text 33"/>
          <p:cNvSpPr/>
          <p:nvPr/>
        </p:nvSpPr>
        <p:spPr>
          <a:xfrm>
            <a:off x="7525512" y="2468880"/>
            <a:ext cx="1865376" cy="6858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mbria" pitchFamily="34" charset="0"/>
                <a:ea typeface="Cambria" pitchFamily="34" charset="-122"/>
                <a:cs typeface="Cambria" pitchFamily="34" charset="-120"/>
              </a:rPr>
              <a:t>Công việc &amp; Subtasks</a:t>
            </a:r>
            <a:endParaRPr lang="en-US" sz="1350" dirty="0"/>
          </a:p>
        </p:txBody>
      </p:sp>
      <p:sp>
        <p:nvSpPr>
          <p:cNvPr id="36" name="Shape 34"/>
          <p:cNvSpPr/>
          <p:nvPr/>
        </p:nvSpPr>
        <p:spPr>
          <a:xfrm>
            <a:off x="7525512" y="3401568"/>
            <a:ext cx="64008" cy="64008"/>
          </a:xfrm>
          <a:prstGeom prst="ellipse">
            <a:avLst/>
          </a:prstGeom>
          <a:solidFill>
            <a:srgbClr val="F4B942"/>
          </a:solidFill>
          <a:ln/>
        </p:spPr>
      </p:sp>
      <p:sp>
        <p:nvSpPr>
          <p:cNvPr id="37" name="Text 35"/>
          <p:cNvSpPr/>
          <p:nvPr/>
        </p:nvSpPr>
        <p:spPr>
          <a:xfrm>
            <a:off x="7680960" y="328269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Task kèm dependencies &amp; subtasks</a:t>
            </a:r>
            <a:endParaRPr lang="en-US" sz="930" dirty="0"/>
          </a:p>
        </p:txBody>
      </p:sp>
      <p:sp>
        <p:nvSpPr>
          <p:cNvPr id="38" name="Shape 36"/>
          <p:cNvSpPr/>
          <p:nvPr/>
        </p:nvSpPr>
        <p:spPr>
          <a:xfrm>
            <a:off x="7525512" y="4178808"/>
            <a:ext cx="64008" cy="64008"/>
          </a:xfrm>
          <a:prstGeom prst="ellipse">
            <a:avLst/>
          </a:prstGeom>
          <a:solidFill>
            <a:srgbClr val="F4B942"/>
          </a:solidFill>
          <a:ln/>
        </p:spPr>
      </p:sp>
      <p:sp>
        <p:nvSpPr>
          <p:cNvPr id="39" name="Text 37"/>
          <p:cNvSpPr/>
          <p:nvPr/>
        </p:nvSpPr>
        <p:spPr>
          <a:xfrm>
            <a:off x="7680960" y="405993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Thêm / sửa / xoá việc nhỏ</a:t>
            </a:r>
            <a:endParaRPr lang="en-US" sz="930" dirty="0"/>
          </a:p>
        </p:txBody>
      </p:sp>
      <p:sp>
        <p:nvSpPr>
          <p:cNvPr id="40" name="Shape 38"/>
          <p:cNvSpPr/>
          <p:nvPr/>
        </p:nvSpPr>
        <p:spPr>
          <a:xfrm>
            <a:off x="7525512" y="4956048"/>
            <a:ext cx="64008" cy="64008"/>
          </a:xfrm>
          <a:prstGeom prst="ellipse">
            <a:avLst/>
          </a:prstGeom>
          <a:solidFill>
            <a:srgbClr val="F4B942"/>
          </a:solidFill>
          <a:ln/>
        </p:spPr>
      </p:sp>
      <p:sp>
        <p:nvSpPr>
          <p:cNvPr id="41" name="Text 39"/>
          <p:cNvSpPr/>
          <p:nvPr/>
        </p:nvSpPr>
        <p:spPr>
          <a:xfrm>
            <a:off x="7680960" y="483717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Bật tắt hoàn thành subtask</a:t>
            </a:r>
            <a:endParaRPr lang="en-US" sz="930" dirty="0"/>
          </a:p>
        </p:txBody>
      </p:sp>
      <p:sp>
        <p:nvSpPr>
          <p:cNvPr id="42" name="Shape 40"/>
          <p:cNvSpPr/>
          <p:nvPr/>
        </p:nvSpPr>
        <p:spPr>
          <a:xfrm>
            <a:off x="9637776" y="1965960"/>
            <a:ext cx="2139696" cy="4160520"/>
          </a:xfrm>
          <a:prstGeom prst="rect">
            <a:avLst/>
          </a:prstGeom>
          <a:solidFill>
            <a:srgbClr val="1E2761"/>
          </a:solidFill>
          <a:ln/>
        </p:spPr>
      </p:sp>
      <p:sp>
        <p:nvSpPr>
          <p:cNvPr id="43" name="Text 41"/>
          <p:cNvSpPr/>
          <p:nvPr/>
        </p:nvSpPr>
        <p:spPr>
          <a:xfrm>
            <a:off x="9774936" y="2148840"/>
            <a:ext cx="1865376" cy="320040"/>
          </a:xfrm>
          <a:prstGeom prst="rect">
            <a:avLst/>
          </a:prstGeom>
          <a:noFill/>
          <a:ln/>
        </p:spPr>
        <p:txBody>
          <a:bodyPr wrap="square" lIns="0" tIns="0" rIns="0" bIns="0" rtlCol="0" anchor="ctr"/>
          <a:lstStyle/>
          <a:p>
            <a:pPr marL="0" indent="0">
              <a:buNone/>
            </a:pPr>
            <a:r>
              <a:rPr lang="en-US" sz="1200" b="1" dirty="0">
                <a:solidFill>
                  <a:srgbClr val="F4B942"/>
                </a:solidFill>
                <a:latin typeface="Calibri" pitchFamily="34" charset="0"/>
                <a:ea typeface="Calibri" pitchFamily="34" charset="-122"/>
                <a:cs typeface="Calibri" pitchFamily="34" charset="-120"/>
              </a:rPr>
              <a:t>/api/sprints</a:t>
            </a:r>
            <a:endParaRPr lang="en-US" sz="1200" dirty="0"/>
          </a:p>
        </p:txBody>
      </p:sp>
      <p:sp>
        <p:nvSpPr>
          <p:cNvPr id="44" name="Text 42"/>
          <p:cNvSpPr/>
          <p:nvPr/>
        </p:nvSpPr>
        <p:spPr>
          <a:xfrm>
            <a:off x="9774936" y="2468880"/>
            <a:ext cx="1865376" cy="6858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mbria" pitchFamily="34" charset="0"/>
                <a:ea typeface="Cambria" pitchFamily="34" charset="-122"/>
                <a:cs typeface="Cambria" pitchFamily="34" charset="-120"/>
              </a:rPr>
              <a:t>Sprint Agile</a:t>
            </a:r>
            <a:endParaRPr lang="en-US" sz="1350" dirty="0"/>
          </a:p>
        </p:txBody>
      </p:sp>
      <p:sp>
        <p:nvSpPr>
          <p:cNvPr id="45" name="Shape 43"/>
          <p:cNvSpPr/>
          <p:nvPr/>
        </p:nvSpPr>
        <p:spPr>
          <a:xfrm>
            <a:off x="9774936" y="3401568"/>
            <a:ext cx="64008" cy="64008"/>
          </a:xfrm>
          <a:prstGeom prst="ellipse">
            <a:avLst/>
          </a:prstGeom>
          <a:solidFill>
            <a:srgbClr val="F4B942"/>
          </a:solidFill>
          <a:ln/>
        </p:spPr>
      </p:sp>
      <p:sp>
        <p:nvSpPr>
          <p:cNvPr id="46" name="Text 44"/>
          <p:cNvSpPr/>
          <p:nvPr/>
        </p:nvSpPr>
        <p:spPr>
          <a:xfrm>
            <a:off x="9930384" y="328269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Danh sách Sprint theo dự án</a:t>
            </a:r>
            <a:endParaRPr lang="en-US" sz="930" dirty="0"/>
          </a:p>
        </p:txBody>
      </p:sp>
      <p:sp>
        <p:nvSpPr>
          <p:cNvPr id="47" name="Shape 45"/>
          <p:cNvSpPr/>
          <p:nvPr/>
        </p:nvSpPr>
        <p:spPr>
          <a:xfrm>
            <a:off x="9774936" y="4178808"/>
            <a:ext cx="64008" cy="64008"/>
          </a:xfrm>
          <a:prstGeom prst="ellipse">
            <a:avLst/>
          </a:prstGeom>
          <a:solidFill>
            <a:srgbClr val="F4B942"/>
          </a:solidFill>
          <a:ln/>
        </p:spPr>
      </p:sp>
      <p:sp>
        <p:nvSpPr>
          <p:cNvPr id="48" name="Text 46"/>
          <p:cNvSpPr/>
          <p:nvPr/>
        </p:nvSpPr>
        <p:spPr>
          <a:xfrm>
            <a:off x="9930384" y="405993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Tạo Sprint mới</a:t>
            </a:r>
            <a:endParaRPr lang="en-US" sz="930" dirty="0"/>
          </a:p>
        </p:txBody>
      </p:sp>
      <p:sp>
        <p:nvSpPr>
          <p:cNvPr id="49" name="Shape 47"/>
          <p:cNvSpPr/>
          <p:nvPr/>
        </p:nvSpPr>
        <p:spPr>
          <a:xfrm>
            <a:off x="9774936" y="4956048"/>
            <a:ext cx="64008" cy="64008"/>
          </a:xfrm>
          <a:prstGeom prst="ellipse">
            <a:avLst/>
          </a:prstGeom>
          <a:solidFill>
            <a:srgbClr val="F4B942"/>
          </a:solidFill>
          <a:ln/>
        </p:spPr>
      </p:sp>
      <p:sp>
        <p:nvSpPr>
          <p:cNvPr id="50" name="Text 48"/>
          <p:cNvSpPr/>
          <p:nvPr/>
        </p:nvSpPr>
        <p:spPr>
          <a:xfrm>
            <a:off x="9930384" y="4837176"/>
            <a:ext cx="1682496" cy="685800"/>
          </a:xfrm>
          <a:prstGeom prst="rect">
            <a:avLst/>
          </a:prstGeom>
          <a:noFill/>
          <a:ln/>
        </p:spPr>
        <p:txBody>
          <a:bodyPr wrap="square" lIns="0" tIns="0" rIns="0" bIns="0" rtlCol="0" anchor="ctr"/>
          <a:lstStyle/>
          <a:p>
            <a:pPr marL="0" indent="0">
              <a:lnSpc>
                <a:spcPct val="115000"/>
              </a:lnSpc>
              <a:buNone/>
            </a:pPr>
            <a:r>
              <a:rPr lang="en-US" sz="930" dirty="0">
                <a:solidFill>
                  <a:srgbClr val="C4CDEE"/>
                </a:solidFill>
                <a:latin typeface="Calibri" pitchFamily="34" charset="0"/>
                <a:ea typeface="Calibri" pitchFamily="34" charset="-122"/>
                <a:cs typeface="Calibri" pitchFamily="34" charset="-120"/>
              </a:rPr>
              <a:t>Kích hoạt &amp; hoàn tất Sprint</a:t>
            </a:r>
            <a:endParaRPr lang="en-US" sz="930" dirty="0"/>
          </a:p>
        </p:txBody>
      </p:sp>
      <p:sp>
        <p:nvSpPr>
          <p:cNvPr id="52" name="Text 50"/>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07</a:t>
            </a:r>
            <a:endParaRPr lang="en-US" sz="900" dirty="0"/>
          </a:p>
        </p:txBody>
      </p:sp>
      <p:sp>
        <p:nvSpPr>
          <p:cNvPr id="54" name="Text 32">
            <a:extLst>
              <a:ext uri="{FF2B5EF4-FFF2-40B4-BE49-F238E27FC236}">
                <a16:creationId xmlns:a16="http://schemas.microsoft.com/office/drawing/2014/main" id="{E88206D3-1D88-F25F-1252-99F87FBC41E3}"/>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0332720" y="-1188720"/>
            <a:ext cx="3291840" cy="3291840"/>
          </a:xfrm>
          <a:prstGeom prst="ellipse">
            <a:avLst/>
          </a:prstGeom>
          <a:solidFill>
            <a:srgbClr val="1E2761">
              <a:alpha val="60000"/>
            </a:srgbClr>
          </a:solidFill>
          <a:ln/>
        </p:spPr>
      </p:sp>
      <p:sp>
        <p:nvSpPr>
          <p:cNvPr id="3" name="Shape 1"/>
          <p:cNvSpPr/>
          <p:nvPr/>
        </p:nvSpPr>
        <p:spPr>
          <a:xfrm>
            <a:off x="-1280160" y="5120640"/>
            <a:ext cx="2926080" cy="2926080"/>
          </a:xfrm>
          <a:prstGeom prst="ellipse">
            <a:avLst/>
          </a:prstGeom>
          <a:solidFill>
            <a:srgbClr val="1E2761">
              <a:alpha val="45000"/>
            </a:srgbClr>
          </a:solidFill>
          <a:ln/>
        </p:spPr>
      </p:sp>
      <p:sp>
        <p:nvSpPr>
          <p:cNvPr id="4" name="Text 2"/>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F4B942"/>
                </a:solidFill>
                <a:latin typeface="Calibri" pitchFamily="34" charset="0"/>
                <a:ea typeface="Calibri" pitchFamily="34" charset="-122"/>
                <a:cs typeface="Calibri" pitchFamily="34" charset="-120"/>
              </a:rPr>
              <a:t>PHÂN QUYỀN HỆ THỐNG</a:t>
            </a:r>
            <a:endParaRPr lang="en-US" sz="1200" dirty="0"/>
          </a:p>
        </p:txBody>
      </p:sp>
      <p:sp>
        <p:nvSpPr>
          <p:cNvPr id="5" name="Text 3"/>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RBAC cấp độ Google Workspace</a:t>
            </a:r>
            <a:endParaRPr lang="en-US" sz="3000" dirty="0"/>
          </a:p>
        </p:txBody>
      </p:sp>
      <p:sp>
        <p:nvSpPr>
          <p:cNvPr id="6" name="Text 4"/>
          <p:cNvSpPr/>
          <p:nvPr/>
        </p:nvSpPr>
        <p:spPr>
          <a:xfrm>
            <a:off x="640080" y="1417320"/>
            <a:ext cx="10789920" cy="502920"/>
          </a:xfrm>
          <a:prstGeom prst="rect">
            <a:avLst/>
          </a:prstGeom>
          <a:noFill/>
          <a:ln/>
        </p:spPr>
        <p:txBody>
          <a:bodyPr wrap="square" lIns="0" tIns="0" rIns="0" bIns="0" rtlCol="0" anchor="ctr"/>
          <a:lstStyle/>
          <a:p>
            <a:pPr marL="0" indent="0">
              <a:buNone/>
            </a:pPr>
            <a:r>
              <a:rPr lang="en-US" sz="1250" dirty="0">
                <a:solidFill>
                  <a:srgbClr val="C4CDEE"/>
                </a:solidFill>
                <a:latin typeface="Calibri" pitchFamily="34" charset="0"/>
                <a:ea typeface="Calibri" pitchFamily="34" charset="-122"/>
                <a:cs typeface="Calibri" pitchFamily="34" charset="-120"/>
              </a:rPr>
              <a:t>Hệ thống phân định 5 cấp Admin + 1 User ở cấp hệ thống (System Role), cộng thêm phân quyền riêng theo từng dự án (Project Role) — một người có thể là Member ở dự án này, PM ở dự án khác.</a:t>
            </a:r>
            <a:endParaRPr lang="en-US" sz="1250" dirty="0"/>
          </a:p>
        </p:txBody>
      </p:sp>
      <p:sp>
        <p:nvSpPr>
          <p:cNvPr id="7" name="Shape 5"/>
          <p:cNvSpPr/>
          <p:nvPr/>
        </p:nvSpPr>
        <p:spPr>
          <a:xfrm>
            <a:off x="640080" y="2148840"/>
            <a:ext cx="5394960" cy="621792"/>
          </a:xfrm>
          <a:prstGeom prst="rect">
            <a:avLst/>
          </a:prstGeom>
          <a:solidFill>
            <a:srgbClr val="FFFFFF">
              <a:alpha val="6000"/>
            </a:srgbClr>
          </a:solidFill>
          <a:ln w="9525">
            <a:solidFill>
              <a:srgbClr val="3B4680"/>
            </a:solidFill>
            <a:prstDash val="solid"/>
          </a:ln>
        </p:spPr>
      </p:sp>
      <p:sp>
        <p:nvSpPr>
          <p:cNvPr id="8" name="Text 6"/>
          <p:cNvSpPr/>
          <p:nvPr/>
        </p:nvSpPr>
        <p:spPr>
          <a:xfrm>
            <a:off x="777240" y="214884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SUPER_ADMIN</a:t>
            </a:r>
            <a:endParaRPr lang="en-US" sz="1150" dirty="0"/>
          </a:p>
        </p:txBody>
      </p:sp>
      <p:sp>
        <p:nvSpPr>
          <p:cNvPr id="9" name="Text 7"/>
          <p:cNvSpPr/>
          <p:nvPr/>
        </p:nvSpPr>
        <p:spPr>
          <a:xfrm>
            <a:off x="2697480" y="214884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Quản trị tối cao — toàn quyền hệ thống</a:t>
            </a:r>
            <a:endParaRPr lang="en-US" sz="1050" dirty="0"/>
          </a:p>
        </p:txBody>
      </p:sp>
      <p:sp>
        <p:nvSpPr>
          <p:cNvPr id="10" name="Shape 8"/>
          <p:cNvSpPr/>
          <p:nvPr/>
        </p:nvSpPr>
        <p:spPr>
          <a:xfrm>
            <a:off x="640080" y="2926080"/>
            <a:ext cx="5394960" cy="621792"/>
          </a:xfrm>
          <a:prstGeom prst="rect">
            <a:avLst/>
          </a:prstGeom>
          <a:solidFill>
            <a:srgbClr val="FFFFFF">
              <a:alpha val="6000"/>
            </a:srgbClr>
          </a:solidFill>
          <a:ln w="9525">
            <a:solidFill>
              <a:srgbClr val="3B4680"/>
            </a:solidFill>
            <a:prstDash val="solid"/>
          </a:ln>
        </p:spPr>
      </p:sp>
      <p:sp>
        <p:nvSpPr>
          <p:cNvPr id="11" name="Text 9"/>
          <p:cNvSpPr/>
          <p:nvPr/>
        </p:nvSpPr>
        <p:spPr>
          <a:xfrm>
            <a:off x="777240" y="292608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USER_ADMIN</a:t>
            </a:r>
            <a:endParaRPr lang="en-US" sz="1150" dirty="0"/>
          </a:p>
        </p:txBody>
      </p:sp>
      <p:sp>
        <p:nvSpPr>
          <p:cNvPr id="12" name="Text 10"/>
          <p:cNvSpPr/>
          <p:nvPr/>
        </p:nvSpPr>
        <p:spPr>
          <a:xfrm>
            <a:off x="2697480" y="292608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Quản lý tài khoản, phân quyền, khoá/mở khoá</a:t>
            </a:r>
            <a:endParaRPr lang="en-US" sz="1050" dirty="0"/>
          </a:p>
        </p:txBody>
      </p:sp>
      <p:sp>
        <p:nvSpPr>
          <p:cNvPr id="13" name="Shape 11"/>
          <p:cNvSpPr/>
          <p:nvPr/>
        </p:nvSpPr>
        <p:spPr>
          <a:xfrm>
            <a:off x="640080" y="3703320"/>
            <a:ext cx="5394960" cy="621792"/>
          </a:xfrm>
          <a:prstGeom prst="rect">
            <a:avLst/>
          </a:prstGeom>
          <a:solidFill>
            <a:srgbClr val="FFFFFF">
              <a:alpha val="6000"/>
            </a:srgbClr>
          </a:solidFill>
          <a:ln w="9525">
            <a:solidFill>
              <a:srgbClr val="3B4680"/>
            </a:solidFill>
            <a:prstDash val="solid"/>
          </a:ln>
        </p:spPr>
      </p:sp>
      <p:sp>
        <p:nvSpPr>
          <p:cNvPr id="14" name="Text 12"/>
          <p:cNvSpPr/>
          <p:nvPr/>
        </p:nvSpPr>
        <p:spPr>
          <a:xfrm>
            <a:off x="777240" y="370332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GROUPS_ADMIN</a:t>
            </a:r>
            <a:endParaRPr lang="en-US" sz="1150" dirty="0"/>
          </a:p>
        </p:txBody>
      </p:sp>
      <p:sp>
        <p:nvSpPr>
          <p:cNvPr id="15" name="Text 13"/>
          <p:cNvSpPr/>
          <p:nvPr/>
        </p:nvSpPr>
        <p:spPr>
          <a:xfrm>
            <a:off x="2697480" y="370332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Quản lý nhóm làm việc &amp; phân bổ thành viên</a:t>
            </a:r>
            <a:endParaRPr lang="en-US" sz="1050" dirty="0"/>
          </a:p>
        </p:txBody>
      </p:sp>
      <p:sp>
        <p:nvSpPr>
          <p:cNvPr id="16" name="Shape 14"/>
          <p:cNvSpPr/>
          <p:nvPr/>
        </p:nvSpPr>
        <p:spPr>
          <a:xfrm>
            <a:off x="6309360" y="2148840"/>
            <a:ext cx="5394960" cy="621792"/>
          </a:xfrm>
          <a:prstGeom prst="rect">
            <a:avLst/>
          </a:prstGeom>
          <a:solidFill>
            <a:srgbClr val="FFFFFF">
              <a:alpha val="6000"/>
            </a:srgbClr>
          </a:solidFill>
          <a:ln w="9525">
            <a:solidFill>
              <a:srgbClr val="3B4680"/>
            </a:solidFill>
            <a:prstDash val="solid"/>
          </a:ln>
        </p:spPr>
      </p:sp>
      <p:sp>
        <p:nvSpPr>
          <p:cNvPr id="17" name="Text 15"/>
          <p:cNvSpPr/>
          <p:nvPr/>
        </p:nvSpPr>
        <p:spPr>
          <a:xfrm>
            <a:off x="6446520" y="214884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SERVICE_ADMIN</a:t>
            </a:r>
            <a:endParaRPr lang="en-US" sz="1150" dirty="0"/>
          </a:p>
        </p:txBody>
      </p:sp>
      <p:sp>
        <p:nvSpPr>
          <p:cNvPr id="18" name="Text 16"/>
          <p:cNvSpPr/>
          <p:nvPr/>
        </p:nvSpPr>
        <p:spPr>
          <a:xfrm>
            <a:off x="8366760" y="214884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Cấu hình dịch vụ, quy mô dự án, sprint</a:t>
            </a:r>
            <a:endParaRPr lang="en-US" sz="1050" dirty="0"/>
          </a:p>
        </p:txBody>
      </p:sp>
      <p:sp>
        <p:nvSpPr>
          <p:cNvPr id="19" name="Shape 17"/>
          <p:cNvSpPr/>
          <p:nvPr/>
        </p:nvSpPr>
        <p:spPr>
          <a:xfrm>
            <a:off x="6309360" y="2926080"/>
            <a:ext cx="5394960" cy="621792"/>
          </a:xfrm>
          <a:prstGeom prst="rect">
            <a:avLst/>
          </a:prstGeom>
          <a:solidFill>
            <a:srgbClr val="FFFFFF">
              <a:alpha val="6000"/>
            </a:srgbClr>
          </a:solidFill>
          <a:ln w="9525">
            <a:solidFill>
              <a:srgbClr val="3B4680"/>
            </a:solidFill>
            <a:prstDash val="solid"/>
          </a:ln>
        </p:spPr>
      </p:sp>
      <p:sp>
        <p:nvSpPr>
          <p:cNvPr id="20" name="Text 18"/>
          <p:cNvSpPr/>
          <p:nvPr/>
        </p:nvSpPr>
        <p:spPr>
          <a:xfrm>
            <a:off x="6446520" y="292608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HELP_DESK_ADMIN</a:t>
            </a:r>
            <a:endParaRPr lang="en-US" sz="1150" dirty="0"/>
          </a:p>
        </p:txBody>
      </p:sp>
      <p:sp>
        <p:nvSpPr>
          <p:cNvPr id="21" name="Text 19"/>
          <p:cNvSpPr/>
          <p:nvPr/>
        </p:nvSpPr>
        <p:spPr>
          <a:xfrm>
            <a:off x="8366760" y="292608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Hỗ trợ kỹ thuật, reset mật khẩu, xem log</a:t>
            </a:r>
            <a:endParaRPr lang="en-US" sz="1050" dirty="0"/>
          </a:p>
        </p:txBody>
      </p:sp>
      <p:sp>
        <p:nvSpPr>
          <p:cNvPr id="22" name="Shape 20"/>
          <p:cNvSpPr/>
          <p:nvPr/>
        </p:nvSpPr>
        <p:spPr>
          <a:xfrm>
            <a:off x="6309360" y="3703320"/>
            <a:ext cx="5394960" cy="621792"/>
          </a:xfrm>
          <a:prstGeom prst="rect">
            <a:avLst/>
          </a:prstGeom>
          <a:solidFill>
            <a:srgbClr val="FFFFFF">
              <a:alpha val="6000"/>
            </a:srgbClr>
          </a:solidFill>
          <a:ln w="9525">
            <a:solidFill>
              <a:srgbClr val="3B4680"/>
            </a:solidFill>
            <a:prstDash val="solid"/>
          </a:ln>
        </p:spPr>
      </p:sp>
      <p:sp>
        <p:nvSpPr>
          <p:cNvPr id="23" name="Text 21"/>
          <p:cNvSpPr/>
          <p:nvPr/>
        </p:nvSpPr>
        <p:spPr>
          <a:xfrm>
            <a:off x="6446520" y="3703320"/>
            <a:ext cx="1920240" cy="621792"/>
          </a:xfrm>
          <a:prstGeom prst="rect">
            <a:avLst/>
          </a:prstGeom>
          <a:noFill/>
          <a:ln/>
        </p:spPr>
        <p:txBody>
          <a:bodyPr wrap="square" lIns="0" tIns="0" rIns="0" bIns="0" rtlCol="0" anchor="ctr"/>
          <a:lstStyle/>
          <a:p>
            <a:pPr marL="0" indent="0">
              <a:buNone/>
            </a:pPr>
            <a:r>
              <a:rPr lang="en-US" sz="1150" b="1" dirty="0">
                <a:solidFill>
                  <a:srgbClr val="F4B942"/>
                </a:solidFill>
                <a:latin typeface="Calibri" pitchFamily="34" charset="0"/>
                <a:ea typeface="Calibri" pitchFamily="34" charset="-122"/>
                <a:cs typeface="Calibri" pitchFamily="34" charset="-120"/>
              </a:rPr>
              <a:t>USER</a:t>
            </a:r>
            <a:endParaRPr lang="en-US" sz="1150" dirty="0"/>
          </a:p>
        </p:txBody>
      </p:sp>
      <p:sp>
        <p:nvSpPr>
          <p:cNvPr id="24" name="Text 22"/>
          <p:cNvSpPr/>
          <p:nvPr/>
        </p:nvSpPr>
        <p:spPr>
          <a:xfrm>
            <a:off x="8366760" y="3703320"/>
            <a:ext cx="3200400" cy="621792"/>
          </a:xfrm>
          <a:prstGeom prst="rect">
            <a:avLst/>
          </a:prstGeom>
          <a:noFill/>
          <a:ln/>
        </p:spPr>
        <p:txBody>
          <a:bodyPr wrap="square" lIns="0" tIns="0" rIns="0" bIns="0" rtlCol="0" anchor="ctr"/>
          <a:lstStyle/>
          <a:p>
            <a:pPr marL="0" indent="0">
              <a:buNone/>
            </a:pPr>
            <a:r>
              <a:rPr lang="en-US" sz="1050" dirty="0">
                <a:solidFill>
                  <a:srgbClr val="C4CDEE"/>
                </a:solidFill>
                <a:latin typeface="Calibri" pitchFamily="34" charset="0"/>
                <a:ea typeface="Calibri" pitchFamily="34" charset="-122"/>
                <a:cs typeface="Calibri" pitchFamily="34" charset="-120"/>
              </a:rPr>
              <a:t>Người dùng thường — phân quyền theo vai trò dự án</a:t>
            </a:r>
            <a:endParaRPr lang="en-US" sz="1050" dirty="0"/>
          </a:p>
        </p:txBody>
      </p:sp>
      <p:sp>
        <p:nvSpPr>
          <p:cNvPr id="25" name="Shape 23"/>
          <p:cNvSpPr/>
          <p:nvPr/>
        </p:nvSpPr>
        <p:spPr>
          <a:xfrm>
            <a:off x="640080" y="4617720"/>
            <a:ext cx="10908792" cy="1508760"/>
          </a:xfrm>
          <a:prstGeom prst="rect">
            <a:avLst/>
          </a:prstGeom>
          <a:solidFill>
            <a:srgbClr val="FFFFFF">
              <a:alpha val="4000"/>
            </a:srgbClr>
          </a:solidFill>
          <a:ln/>
        </p:spPr>
      </p:sp>
      <p:sp>
        <p:nvSpPr>
          <p:cNvPr id="26" name="Text 24"/>
          <p:cNvSpPr/>
          <p:nvPr/>
        </p:nvSpPr>
        <p:spPr>
          <a:xfrm>
            <a:off x="868680" y="4773168"/>
            <a:ext cx="10424160" cy="274320"/>
          </a:xfrm>
          <a:prstGeom prst="rect">
            <a:avLst/>
          </a:prstGeom>
          <a:noFill/>
          <a:ln/>
        </p:spPr>
        <p:txBody>
          <a:bodyPr wrap="square" lIns="0" tIns="0" rIns="0" bIns="0" rtlCol="0" anchor="ctr"/>
          <a:lstStyle/>
          <a:p>
            <a:pPr marL="0" indent="0">
              <a:buNone/>
            </a:pPr>
            <a:r>
              <a:rPr lang="en-US" sz="1050" b="1" kern="0" spc="120" dirty="0">
                <a:solidFill>
                  <a:srgbClr val="F4B942"/>
                </a:solidFill>
                <a:latin typeface="Calibri" pitchFamily="34" charset="0"/>
                <a:ea typeface="Calibri" pitchFamily="34" charset="-122"/>
                <a:cs typeface="Calibri" pitchFamily="34" charset="-120"/>
              </a:rPr>
              <a:t>HAI TẦNG PHÂN QUYỀN ĐỘC LẬP</a:t>
            </a:r>
            <a:endParaRPr lang="en-US" sz="1050" dirty="0"/>
          </a:p>
        </p:txBody>
      </p:sp>
      <p:sp>
        <p:nvSpPr>
          <p:cNvPr id="27" name="Text 25"/>
          <p:cNvSpPr/>
          <p:nvPr/>
        </p:nvSpPr>
        <p:spPr>
          <a:xfrm>
            <a:off x="868680" y="5074920"/>
            <a:ext cx="10424160" cy="960120"/>
          </a:xfrm>
          <a:prstGeom prst="rect">
            <a:avLst/>
          </a:prstGeom>
          <a:noFill/>
          <a:ln/>
        </p:spPr>
        <p:txBody>
          <a:bodyPr wrap="square" lIns="0" tIns="0" rIns="0" bIns="0" rtlCol="0" anchor="ctr"/>
          <a:lstStyle/>
          <a:p>
            <a:pPr marL="0" indent="0">
              <a:lnSpc>
                <a:spcPct val="125000"/>
              </a:lnSpc>
              <a:buNone/>
            </a:pPr>
            <a:r>
              <a:rPr lang="en-US" sz="1150" dirty="0">
                <a:solidFill>
                  <a:srgbClr val="DCE3F7"/>
                </a:solidFill>
                <a:latin typeface="Calibri" pitchFamily="34" charset="0"/>
                <a:ea typeface="Calibri" pitchFamily="34" charset="-122"/>
                <a:cs typeface="Calibri" pitchFamily="34" charset="-120"/>
              </a:rPr>
              <a:t>System Role kiểm soát quyền trên toàn hệ thống (quản trị tài khoản, xem log...); Project Role kiểm soát quyền thao tác bên trong từng dự án cụ thể (tạo Sprint, xoá Task, mời thành viên...). Middleware tự suy luận dự án liên quan từ Task, Comment hay Phase để áp đúng vai trò — không cần khai báo thủ công ở từng route.</a:t>
            </a:r>
            <a:endParaRPr lang="en-US" sz="1150" dirty="0"/>
          </a:p>
        </p:txBody>
      </p:sp>
      <p:sp>
        <p:nvSpPr>
          <p:cNvPr id="29" name="Text 27"/>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8C9BC9"/>
                </a:solidFill>
                <a:latin typeface="Calibri" pitchFamily="34" charset="0"/>
                <a:ea typeface="Calibri" pitchFamily="34" charset="-122"/>
                <a:cs typeface="Calibri" pitchFamily="34" charset="-120"/>
              </a:rPr>
              <a:t>08</a:t>
            </a:r>
            <a:endParaRPr lang="en-US" sz="900" dirty="0"/>
          </a:p>
        </p:txBody>
      </p:sp>
      <p:sp>
        <p:nvSpPr>
          <p:cNvPr id="33" name="Text 32">
            <a:extLst>
              <a:ext uri="{FF2B5EF4-FFF2-40B4-BE49-F238E27FC236}">
                <a16:creationId xmlns:a16="http://schemas.microsoft.com/office/drawing/2014/main" id="{ABC17972-2070-F96B-CEEC-DDA279CE41D6}"/>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ĐIỂM NỔI BẬT KỸ THUẬT</a:t>
            </a:r>
            <a:endParaRPr lang="en-US" sz="1200" dirty="0"/>
          </a:p>
        </p:txBody>
      </p:sp>
      <p:sp>
        <p:nvSpPr>
          <p:cNvPr id="4" name="Text 2"/>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Thuật toán &amp; Tối ưu hiệu năng</a:t>
            </a:r>
            <a:endParaRPr lang="en-US" sz="3000" dirty="0"/>
          </a:p>
        </p:txBody>
      </p:sp>
      <p:sp>
        <p:nvSpPr>
          <p:cNvPr id="5" name="Shape 3"/>
          <p:cNvSpPr/>
          <p:nvPr/>
        </p:nvSpPr>
        <p:spPr>
          <a:xfrm>
            <a:off x="640080" y="1554480"/>
            <a:ext cx="3538728" cy="1965960"/>
          </a:xfrm>
          <a:prstGeom prst="rect">
            <a:avLst/>
          </a:prstGeom>
          <a:solidFill>
            <a:srgbClr val="F4F6FC"/>
          </a:solidFill>
          <a:ln/>
        </p:spPr>
      </p:sp>
      <p:sp>
        <p:nvSpPr>
          <p:cNvPr id="6" name="Shape 4"/>
          <p:cNvSpPr/>
          <p:nvPr/>
        </p:nvSpPr>
        <p:spPr>
          <a:xfrm>
            <a:off x="822960" y="1737360"/>
            <a:ext cx="384048" cy="73152"/>
          </a:xfrm>
          <a:prstGeom prst="rect">
            <a:avLst/>
          </a:prstGeom>
          <a:solidFill>
            <a:srgbClr val="F4B942"/>
          </a:solidFill>
          <a:ln/>
        </p:spPr>
      </p:sp>
      <p:sp>
        <p:nvSpPr>
          <p:cNvPr id="7" name="Text 5"/>
          <p:cNvSpPr/>
          <p:nvPr/>
        </p:nvSpPr>
        <p:spPr>
          <a:xfrm>
            <a:off x="822960" y="1920240"/>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Recursive Project Tree</a:t>
            </a:r>
            <a:endParaRPr lang="en-US" sz="1300" dirty="0"/>
          </a:p>
        </p:txBody>
      </p:sp>
      <p:sp>
        <p:nvSpPr>
          <p:cNvPr id="8" name="Text 6"/>
          <p:cNvSpPr/>
          <p:nvPr/>
        </p:nvSpPr>
        <p:spPr>
          <a:xfrm>
            <a:off x="822960" y="2514600"/>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Thuật toán đệ quy xử lý cấu trúc Dự án Cha – Con (parentId), cho phép phân cấp không giới hạn số tầng.</a:t>
            </a:r>
            <a:endParaRPr lang="en-US" sz="970" dirty="0"/>
          </a:p>
        </p:txBody>
      </p:sp>
      <p:sp>
        <p:nvSpPr>
          <p:cNvPr id="9" name="Shape 7"/>
          <p:cNvSpPr/>
          <p:nvPr/>
        </p:nvSpPr>
        <p:spPr>
          <a:xfrm>
            <a:off x="4306824" y="1554480"/>
            <a:ext cx="3538728" cy="1965960"/>
          </a:xfrm>
          <a:prstGeom prst="rect">
            <a:avLst/>
          </a:prstGeom>
          <a:solidFill>
            <a:srgbClr val="F4F6FC"/>
          </a:solidFill>
          <a:ln/>
        </p:spPr>
      </p:sp>
      <p:sp>
        <p:nvSpPr>
          <p:cNvPr id="10" name="Shape 8"/>
          <p:cNvSpPr/>
          <p:nvPr/>
        </p:nvSpPr>
        <p:spPr>
          <a:xfrm>
            <a:off x="4489704" y="1737360"/>
            <a:ext cx="384048" cy="73152"/>
          </a:xfrm>
          <a:prstGeom prst="rect">
            <a:avLst/>
          </a:prstGeom>
          <a:solidFill>
            <a:srgbClr val="F4B942"/>
          </a:solidFill>
          <a:ln/>
        </p:spPr>
      </p:sp>
      <p:sp>
        <p:nvSpPr>
          <p:cNvPr id="11" name="Text 9"/>
          <p:cNvSpPr/>
          <p:nvPr/>
        </p:nvSpPr>
        <p:spPr>
          <a:xfrm>
            <a:off x="4489704" y="1920240"/>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Roadmap Tự Sinh Theo Mô Hình</a:t>
            </a:r>
            <a:endParaRPr lang="en-US" sz="1300" dirty="0"/>
          </a:p>
        </p:txBody>
      </p:sp>
      <p:sp>
        <p:nvSpPr>
          <p:cNvPr id="12" name="Text 10"/>
          <p:cNvSpPr/>
          <p:nvPr/>
        </p:nvSpPr>
        <p:spPr>
          <a:xfrm>
            <a:off x="4489704" y="2514600"/>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Khi tạo dự án, hệ thống tự sinh giai đoạn hoặc Sprint phù hợp mô hình đã chọn — Waterfall chia 6 giai đoạn theo tỷ lệ thời lượng, V-Model/Spiral chia đều theo số giai đoạn, Agile/Scrum tạo sẵn Sprint đầu tiên.</a:t>
            </a:r>
            <a:endParaRPr lang="en-US" sz="970" dirty="0"/>
          </a:p>
        </p:txBody>
      </p:sp>
      <p:sp>
        <p:nvSpPr>
          <p:cNvPr id="13" name="Shape 11"/>
          <p:cNvSpPr/>
          <p:nvPr/>
        </p:nvSpPr>
        <p:spPr>
          <a:xfrm>
            <a:off x="7973568" y="1554480"/>
            <a:ext cx="3538728" cy="1965960"/>
          </a:xfrm>
          <a:prstGeom prst="rect">
            <a:avLst/>
          </a:prstGeom>
          <a:solidFill>
            <a:srgbClr val="F4F6FC"/>
          </a:solidFill>
          <a:ln/>
        </p:spPr>
      </p:sp>
      <p:sp>
        <p:nvSpPr>
          <p:cNvPr id="14" name="Shape 12"/>
          <p:cNvSpPr/>
          <p:nvPr/>
        </p:nvSpPr>
        <p:spPr>
          <a:xfrm>
            <a:off x="8156448" y="1737360"/>
            <a:ext cx="384048" cy="73152"/>
          </a:xfrm>
          <a:prstGeom prst="rect">
            <a:avLst/>
          </a:prstGeom>
          <a:solidFill>
            <a:srgbClr val="F4B942"/>
          </a:solidFill>
          <a:ln/>
        </p:spPr>
      </p:sp>
      <p:sp>
        <p:nvSpPr>
          <p:cNvPr id="15" name="Text 13"/>
          <p:cNvSpPr/>
          <p:nvPr/>
        </p:nvSpPr>
        <p:spPr>
          <a:xfrm>
            <a:off x="8156448" y="1920240"/>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Tiến Độ Gantt Tính Động</a:t>
            </a:r>
            <a:endParaRPr lang="en-US" sz="1300" dirty="0"/>
          </a:p>
        </p:txBody>
      </p:sp>
      <p:sp>
        <p:nvSpPr>
          <p:cNvPr id="16" name="Text 14"/>
          <p:cNvSpPr/>
          <p:nvPr/>
        </p:nvSpPr>
        <p:spPr>
          <a:xfrm>
            <a:off x="8156448" y="2514600"/>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Phần trăm hoàn thành mỗi giai đoạn trên Gantt tính trực tiếp từ tỉ lệ Task đã DONE trên tổng số Task của giai đoạn — không phải con số cố định đặt sẵn lúc khởi tạo.</a:t>
            </a:r>
            <a:endParaRPr lang="en-US" sz="970" dirty="0"/>
          </a:p>
        </p:txBody>
      </p:sp>
      <p:sp>
        <p:nvSpPr>
          <p:cNvPr id="17" name="Shape 15"/>
          <p:cNvSpPr/>
          <p:nvPr/>
        </p:nvSpPr>
        <p:spPr>
          <a:xfrm>
            <a:off x="640080" y="3685032"/>
            <a:ext cx="3538728" cy="1965960"/>
          </a:xfrm>
          <a:prstGeom prst="rect">
            <a:avLst/>
          </a:prstGeom>
          <a:solidFill>
            <a:srgbClr val="F4F6FC"/>
          </a:solidFill>
          <a:ln/>
        </p:spPr>
      </p:sp>
      <p:sp>
        <p:nvSpPr>
          <p:cNvPr id="18" name="Shape 16"/>
          <p:cNvSpPr/>
          <p:nvPr/>
        </p:nvSpPr>
        <p:spPr>
          <a:xfrm>
            <a:off x="822960" y="3867912"/>
            <a:ext cx="384048" cy="73152"/>
          </a:xfrm>
          <a:prstGeom prst="rect">
            <a:avLst/>
          </a:prstGeom>
          <a:solidFill>
            <a:srgbClr val="F4B942"/>
          </a:solidFill>
          <a:ln/>
        </p:spPr>
      </p:sp>
      <p:sp>
        <p:nvSpPr>
          <p:cNvPr id="19" name="Text 17"/>
          <p:cNvSpPr/>
          <p:nvPr/>
        </p:nvSpPr>
        <p:spPr>
          <a:xfrm>
            <a:off x="822960" y="4050792"/>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Khởi Tạo Dự Án Nguyên Tử</a:t>
            </a:r>
            <a:endParaRPr lang="en-US" sz="1300" dirty="0"/>
          </a:p>
        </p:txBody>
      </p:sp>
      <p:sp>
        <p:nvSpPr>
          <p:cNvPr id="20" name="Text 18"/>
          <p:cNvSpPr/>
          <p:nvPr/>
        </p:nvSpPr>
        <p:spPr>
          <a:xfrm>
            <a:off x="822960" y="4645152"/>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Tạo Dự án, gán Project Manager và sinh giai đoạn/Sprint đầu tiên được gói trong một Prisma Transaction duy nhất — đảm bảo toàn vẹn dữ liệu nếu một bước thất bại.</a:t>
            </a:r>
            <a:endParaRPr lang="en-US" sz="970" dirty="0"/>
          </a:p>
        </p:txBody>
      </p:sp>
      <p:sp>
        <p:nvSpPr>
          <p:cNvPr id="21" name="Shape 19"/>
          <p:cNvSpPr/>
          <p:nvPr/>
        </p:nvSpPr>
        <p:spPr>
          <a:xfrm>
            <a:off x="4306824" y="3685032"/>
            <a:ext cx="3538728" cy="1965960"/>
          </a:xfrm>
          <a:prstGeom prst="rect">
            <a:avLst/>
          </a:prstGeom>
          <a:solidFill>
            <a:srgbClr val="F4F6FC"/>
          </a:solidFill>
          <a:ln/>
        </p:spPr>
      </p:sp>
      <p:sp>
        <p:nvSpPr>
          <p:cNvPr id="22" name="Shape 20"/>
          <p:cNvSpPr/>
          <p:nvPr/>
        </p:nvSpPr>
        <p:spPr>
          <a:xfrm>
            <a:off x="4489704" y="3867912"/>
            <a:ext cx="384048" cy="73152"/>
          </a:xfrm>
          <a:prstGeom prst="rect">
            <a:avLst/>
          </a:prstGeom>
          <a:solidFill>
            <a:srgbClr val="F4B942"/>
          </a:solidFill>
          <a:ln/>
        </p:spPr>
      </p:sp>
      <p:sp>
        <p:nvSpPr>
          <p:cNvPr id="23" name="Text 21"/>
          <p:cNvSpPr/>
          <p:nvPr/>
        </p:nvSpPr>
        <p:spPr>
          <a:xfrm>
            <a:off x="4489704" y="4050792"/>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Dữ Liệu Quan Hệ Chuẩn Hoá</a:t>
            </a:r>
            <a:endParaRPr lang="en-US" sz="1300" dirty="0"/>
          </a:p>
        </p:txBody>
      </p:sp>
      <p:sp>
        <p:nvSpPr>
          <p:cNvPr id="24" name="Text 22"/>
          <p:cNvSpPr/>
          <p:nvPr/>
        </p:nvSpPr>
        <p:spPr>
          <a:xfrm>
            <a:off x="4489704" y="4645152"/>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Thành viên dự án, Subtask và lịch sử phân công là các bảng quan hệ riêng với khoá ngoại và ràng buộc Cascade — không nhúng mảng dữ liệu, đảm bảo toàn vẹn khi xoá hoặc cập nhật.</a:t>
            </a:r>
            <a:endParaRPr lang="en-US" sz="970" dirty="0"/>
          </a:p>
        </p:txBody>
      </p:sp>
      <p:sp>
        <p:nvSpPr>
          <p:cNvPr id="25" name="Shape 23"/>
          <p:cNvSpPr/>
          <p:nvPr/>
        </p:nvSpPr>
        <p:spPr>
          <a:xfrm>
            <a:off x="7973568" y="3685032"/>
            <a:ext cx="3538728" cy="1965960"/>
          </a:xfrm>
          <a:prstGeom prst="rect">
            <a:avLst/>
          </a:prstGeom>
          <a:solidFill>
            <a:srgbClr val="F4F6FC"/>
          </a:solidFill>
          <a:ln/>
        </p:spPr>
      </p:sp>
      <p:sp>
        <p:nvSpPr>
          <p:cNvPr id="26" name="Shape 24"/>
          <p:cNvSpPr/>
          <p:nvPr/>
        </p:nvSpPr>
        <p:spPr>
          <a:xfrm>
            <a:off x="8156448" y="3867912"/>
            <a:ext cx="384048" cy="73152"/>
          </a:xfrm>
          <a:prstGeom prst="rect">
            <a:avLst/>
          </a:prstGeom>
          <a:solidFill>
            <a:srgbClr val="F4B942"/>
          </a:solidFill>
          <a:ln/>
        </p:spPr>
      </p:sp>
      <p:sp>
        <p:nvSpPr>
          <p:cNvPr id="27" name="Text 25"/>
          <p:cNvSpPr/>
          <p:nvPr/>
        </p:nvSpPr>
        <p:spPr>
          <a:xfrm>
            <a:off x="8156448" y="4050792"/>
            <a:ext cx="3172968" cy="594360"/>
          </a:xfrm>
          <a:prstGeom prst="rect">
            <a:avLst/>
          </a:prstGeom>
          <a:noFill/>
          <a:ln/>
        </p:spPr>
        <p:txBody>
          <a:bodyPr wrap="square" lIns="0" tIns="0" rIns="0" bIns="0" rtlCol="0" anchor="ctr"/>
          <a:lstStyle/>
          <a:p>
            <a:pPr marL="0" indent="0">
              <a:lnSpc>
                <a:spcPct val="105000"/>
              </a:lnSpc>
              <a:buNone/>
            </a:pPr>
            <a:r>
              <a:rPr lang="en-US" sz="1300" b="1" dirty="0">
                <a:solidFill>
                  <a:srgbClr val="1E2761"/>
                </a:solidFill>
                <a:latin typeface="Cambria" pitchFamily="34" charset="0"/>
                <a:ea typeface="Cambria" pitchFamily="34" charset="-122"/>
                <a:cs typeface="Cambria" pitchFamily="34" charset="-120"/>
              </a:rPr>
              <a:t>RBAC Hai Tầng Độc Lập</a:t>
            </a:r>
            <a:endParaRPr lang="en-US" sz="1300" dirty="0"/>
          </a:p>
        </p:txBody>
      </p:sp>
      <p:sp>
        <p:nvSpPr>
          <p:cNvPr id="28" name="Text 26"/>
          <p:cNvSpPr/>
          <p:nvPr/>
        </p:nvSpPr>
        <p:spPr>
          <a:xfrm>
            <a:off x="8156448" y="4645152"/>
            <a:ext cx="3172968" cy="914400"/>
          </a:xfrm>
          <a:prstGeom prst="rect">
            <a:avLst/>
          </a:prstGeom>
          <a:noFill/>
          <a:ln/>
        </p:spPr>
        <p:txBody>
          <a:bodyPr wrap="square" lIns="0" tIns="0" rIns="0" bIns="0" rtlCol="0" anchor="ctr"/>
          <a:lstStyle/>
          <a:p>
            <a:pPr marL="0" indent="0">
              <a:lnSpc>
                <a:spcPct val="120000"/>
              </a:lnSpc>
              <a:buNone/>
            </a:pPr>
            <a:r>
              <a:rPr lang="en-US" sz="970" dirty="0">
                <a:solidFill>
                  <a:srgbClr val="5A6580"/>
                </a:solidFill>
                <a:latin typeface="Calibri" pitchFamily="34" charset="0"/>
                <a:ea typeface="Calibri" pitchFamily="34" charset="-122"/>
                <a:cs typeface="Calibri" pitchFamily="34" charset="-120"/>
              </a:rPr>
              <a:t>System Role kiểm soát quyền toàn hệ thống, Project Role kiểm soát quyền trong từng dự án — middleware tự suy luận dự án liên quan để áp đúng vai trò.</a:t>
            </a:r>
            <a:endParaRPr lang="en-US" sz="970" dirty="0"/>
          </a:p>
        </p:txBody>
      </p:sp>
      <p:sp>
        <p:nvSpPr>
          <p:cNvPr id="30" name="Text 28"/>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09</a:t>
            </a:r>
            <a:endParaRPr lang="en-US" sz="900" dirty="0"/>
          </a:p>
        </p:txBody>
      </p:sp>
      <p:sp>
        <p:nvSpPr>
          <p:cNvPr id="32" name="Text 32">
            <a:extLst>
              <a:ext uri="{FF2B5EF4-FFF2-40B4-BE49-F238E27FC236}">
                <a16:creationId xmlns:a16="http://schemas.microsoft.com/office/drawing/2014/main" id="{F3811332-14DA-0C87-C79B-63DDB5C71BE3}"/>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CHỨC NĂNG HỆ THỐNG · PHẦN 1</a:t>
            </a:r>
            <a:endParaRPr lang="en-US" sz="1200" dirty="0"/>
          </a:p>
        </p:txBody>
      </p:sp>
      <p:sp>
        <p:nvSpPr>
          <p:cNvPr id="4" name="Text 2"/>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Quản lý dự án &amp; Trực quan hoá</a:t>
            </a:r>
            <a:endParaRPr lang="en-US" sz="3000" dirty="0"/>
          </a:p>
        </p:txBody>
      </p:sp>
      <p:sp>
        <p:nvSpPr>
          <p:cNvPr id="5" name="Shape 3"/>
          <p:cNvSpPr/>
          <p:nvPr/>
        </p:nvSpPr>
        <p:spPr>
          <a:xfrm>
            <a:off x="640080" y="1600200"/>
            <a:ext cx="5394960" cy="1481328"/>
          </a:xfrm>
          <a:prstGeom prst="rect">
            <a:avLst/>
          </a:prstGeom>
          <a:solidFill>
            <a:srgbClr val="F4F6FC"/>
          </a:solidFill>
          <a:ln/>
        </p:spPr>
      </p:sp>
      <p:sp>
        <p:nvSpPr>
          <p:cNvPr id="6" name="Shape 4"/>
          <p:cNvSpPr/>
          <p:nvPr/>
        </p:nvSpPr>
        <p:spPr>
          <a:xfrm>
            <a:off x="822960" y="1783080"/>
            <a:ext cx="384048" cy="384048"/>
          </a:xfrm>
          <a:prstGeom prst="ellipse">
            <a:avLst/>
          </a:prstGeom>
          <a:solidFill>
            <a:srgbClr val="1E2761"/>
          </a:solidFill>
          <a:ln/>
        </p:spPr>
      </p:sp>
      <p:sp>
        <p:nvSpPr>
          <p:cNvPr id="7" name="Text 5"/>
          <p:cNvSpPr/>
          <p:nvPr/>
        </p:nvSpPr>
        <p:spPr>
          <a:xfrm>
            <a:off x="822960" y="1783080"/>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53312" y="1746504"/>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Kanban Board</a:t>
            </a:r>
            <a:endParaRPr lang="en-US" sz="1350" dirty="0"/>
          </a:p>
        </p:txBody>
      </p:sp>
      <p:sp>
        <p:nvSpPr>
          <p:cNvPr id="9" name="Text 7"/>
          <p:cNvSpPr/>
          <p:nvPr/>
        </p:nvSpPr>
        <p:spPr>
          <a:xfrm>
            <a:off x="822960" y="2258568"/>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Kéo–thả công việc theo trạng thái Todo / In Progress / Review / Done</a:t>
            </a:r>
            <a:endParaRPr lang="en-US" sz="1030" dirty="0"/>
          </a:p>
        </p:txBody>
      </p:sp>
      <p:sp>
        <p:nvSpPr>
          <p:cNvPr id="10" name="Shape 8"/>
          <p:cNvSpPr/>
          <p:nvPr/>
        </p:nvSpPr>
        <p:spPr>
          <a:xfrm>
            <a:off x="6172200" y="1600200"/>
            <a:ext cx="5394960" cy="1481328"/>
          </a:xfrm>
          <a:prstGeom prst="rect">
            <a:avLst/>
          </a:prstGeom>
          <a:solidFill>
            <a:srgbClr val="F4F6FC"/>
          </a:solidFill>
          <a:ln/>
        </p:spPr>
      </p:sp>
      <p:sp>
        <p:nvSpPr>
          <p:cNvPr id="11" name="Shape 9"/>
          <p:cNvSpPr/>
          <p:nvPr/>
        </p:nvSpPr>
        <p:spPr>
          <a:xfrm>
            <a:off x="6355080" y="1783080"/>
            <a:ext cx="384048" cy="384048"/>
          </a:xfrm>
          <a:prstGeom prst="ellipse">
            <a:avLst/>
          </a:prstGeom>
          <a:solidFill>
            <a:srgbClr val="1E2761"/>
          </a:solidFill>
          <a:ln/>
        </p:spPr>
      </p:sp>
      <p:sp>
        <p:nvSpPr>
          <p:cNvPr id="12" name="Text 10"/>
          <p:cNvSpPr/>
          <p:nvPr/>
        </p:nvSpPr>
        <p:spPr>
          <a:xfrm>
            <a:off x="6355080" y="1783080"/>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85432" y="1746504"/>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Gantt &amp; PERT Chart</a:t>
            </a:r>
            <a:endParaRPr lang="en-US" sz="1350" dirty="0"/>
          </a:p>
        </p:txBody>
      </p:sp>
      <p:sp>
        <p:nvSpPr>
          <p:cNvPr id="14" name="Text 12"/>
          <p:cNvSpPr/>
          <p:nvPr/>
        </p:nvSpPr>
        <p:spPr>
          <a:xfrm>
            <a:off x="6355080" y="2258568"/>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Trực quan hoá tiến độ, phụ thuộc và đường găng của Task</a:t>
            </a:r>
            <a:endParaRPr lang="en-US" sz="1030" dirty="0"/>
          </a:p>
        </p:txBody>
      </p:sp>
      <p:sp>
        <p:nvSpPr>
          <p:cNvPr id="15" name="Shape 13"/>
          <p:cNvSpPr/>
          <p:nvPr/>
        </p:nvSpPr>
        <p:spPr>
          <a:xfrm>
            <a:off x="640080" y="3218688"/>
            <a:ext cx="5394960" cy="1481328"/>
          </a:xfrm>
          <a:prstGeom prst="rect">
            <a:avLst/>
          </a:prstGeom>
          <a:solidFill>
            <a:srgbClr val="F4F6FC"/>
          </a:solidFill>
          <a:ln/>
        </p:spPr>
      </p:sp>
      <p:sp>
        <p:nvSpPr>
          <p:cNvPr id="16" name="Shape 14"/>
          <p:cNvSpPr/>
          <p:nvPr/>
        </p:nvSpPr>
        <p:spPr>
          <a:xfrm>
            <a:off x="822960" y="3401568"/>
            <a:ext cx="384048" cy="384048"/>
          </a:xfrm>
          <a:prstGeom prst="ellipse">
            <a:avLst/>
          </a:prstGeom>
          <a:solidFill>
            <a:srgbClr val="1E2761"/>
          </a:solidFill>
          <a:ln/>
        </p:spPr>
      </p:sp>
      <p:sp>
        <p:nvSpPr>
          <p:cNvPr id="17" name="Text 15"/>
          <p:cNvSpPr/>
          <p:nvPr/>
        </p:nvSpPr>
        <p:spPr>
          <a:xfrm>
            <a:off x="822960" y="3401568"/>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53312" y="3364992"/>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V-Model &amp; Spiral Diagram</a:t>
            </a:r>
            <a:endParaRPr lang="en-US" sz="1350" dirty="0"/>
          </a:p>
        </p:txBody>
      </p:sp>
      <p:sp>
        <p:nvSpPr>
          <p:cNvPr id="19" name="Text 17"/>
          <p:cNvSpPr/>
          <p:nvPr/>
        </p:nvSpPr>
        <p:spPr>
          <a:xfrm>
            <a:off x="822960" y="3877056"/>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Sơ đồ mô hình phát triển phần mềm trực quan cho dự án</a:t>
            </a:r>
            <a:endParaRPr lang="en-US" sz="1030" dirty="0"/>
          </a:p>
        </p:txBody>
      </p:sp>
      <p:sp>
        <p:nvSpPr>
          <p:cNvPr id="20" name="Shape 18"/>
          <p:cNvSpPr/>
          <p:nvPr/>
        </p:nvSpPr>
        <p:spPr>
          <a:xfrm>
            <a:off x="6172200" y="3218688"/>
            <a:ext cx="5394960" cy="1481328"/>
          </a:xfrm>
          <a:prstGeom prst="rect">
            <a:avLst/>
          </a:prstGeom>
          <a:solidFill>
            <a:srgbClr val="F4F6FC"/>
          </a:solidFill>
          <a:ln/>
        </p:spPr>
      </p:sp>
      <p:sp>
        <p:nvSpPr>
          <p:cNvPr id="21" name="Shape 19"/>
          <p:cNvSpPr/>
          <p:nvPr/>
        </p:nvSpPr>
        <p:spPr>
          <a:xfrm>
            <a:off x="6355080" y="3401568"/>
            <a:ext cx="384048" cy="384048"/>
          </a:xfrm>
          <a:prstGeom prst="ellipse">
            <a:avLst/>
          </a:prstGeom>
          <a:solidFill>
            <a:srgbClr val="1E2761"/>
          </a:solidFill>
          <a:ln/>
        </p:spPr>
      </p:sp>
      <p:sp>
        <p:nvSpPr>
          <p:cNvPr id="22" name="Text 20"/>
          <p:cNvSpPr/>
          <p:nvPr/>
        </p:nvSpPr>
        <p:spPr>
          <a:xfrm>
            <a:off x="6355080" y="3401568"/>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85432" y="3364992"/>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Sprint Management</a:t>
            </a:r>
            <a:endParaRPr lang="en-US" sz="1350" dirty="0"/>
          </a:p>
        </p:txBody>
      </p:sp>
      <p:sp>
        <p:nvSpPr>
          <p:cNvPr id="24" name="Text 22"/>
          <p:cNvSpPr/>
          <p:nvPr/>
        </p:nvSpPr>
        <p:spPr>
          <a:xfrm>
            <a:off x="6355080" y="3877056"/>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Lập kế hoạch, kích hoạt (PLANNING→ACTIVE) và hoàn tất Sprint</a:t>
            </a:r>
            <a:endParaRPr lang="en-US" sz="1030" dirty="0"/>
          </a:p>
        </p:txBody>
      </p:sp>
      <p:sp>
        <p:nvSpPr>
          <p:cNvPr id="25" name="Shape 23"/>
          <p:cNvSpPr/>
          <p:nvPr/>
        </p:nvSpPr>
        <p:spPr>
          <a:xfrm>
            <a:off x="640080" y="4837176"/>
            <a:ext cx="5394960" cy="1481328"/>
          </a:xfrm>
          <a:prstGeom prst="rect">
            <a:avLst/>
          </a:prstGeom>
          <a:solidFill>
            <a:srgbClr val="F4F6FC"/>
          </a:solidFill>
          <a:ln/>
        </p:spPr>
      </p:sp>
      <p:sp>
        <p:nvSpPr>
          <p:cNvPr id="26" name="Shape 24"/>
          <p:cNvSpPr/>
          <p:nvPr/>
        </p:nvSpPr>
        <p:spPr>
          <a:xfrm>
            <a:off x="822960" y="5020056"/>
            <a:ext cx="384048" cy="384048"/>
          </a:xfrm>
          <a:prstGeom prst="ellipse">
            <a:avLst/>
          </a:prstGeom>
          <a:solidFill>
            <a:srgbClr val="1E2761"/>
          </a:solidFill>
          <a:ln/>
        </p:spPr>
      </p:sp>
      <p:sp>
        <p:nvSpPr>
          <p:cNvPr id="27" name="Text 25"/>
          <p:cNvSpPr/>
          <p:nvPr/>
        </p:nvSpPr>
        <p:spPr>
          <a:xfrm>
            <a:off x="822960" y="5020056"/>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353312" y="4983480"/>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Cây Dự án Cha – Con</a:t>
            </a:r>
            <a:endParaRPr lang="en-US" sz="1350" dirty="0"/>
          </a:p>
        </p:txBody>
      </p:sp>
      <p:sp>
        <p:nvSpPr>
          <p:cNvPr id="29" name="Text 27"/>
          <p:cNvSpPr/>
          <p:nvPr/>
        </p:nvSpPr>
        <p:spPr>
          <a:xfrm>
            <a:off x="822960" y="5495544"/>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Phân cấp dự án gốc và dự án con theo quy mô linh hoạt</a:t>
            </a:r>
            <a:endParaRPr lang="en-US" sz="1030" dirty="0"/>
          </a:p>
        </p:txBody>
      </p:sp>
      <p:sp>
        <p:nvSpPr>
          <p:cNvPr id="30" name="Shape 28"/>
          <p:cNvSpPr/>
          <p:nvPr/>
        </p:nvSpPr>
        <p:spPr>
          <a:xfrm>
            <a:off x="6172200" y="4837176"/>
            <a:ext cx="5394960" cy="1481328"/>
          </a:xfrm>
          <a:prstGeom prst="rect">
            <a:avLst/>
          </a:prstGeom>
          <a:solidFill>
            <a:srgbClr val="F4F6FC"/>
          </a:solidFill>
          <a:ln/>
        </p:spPr>
      </p:sp>
      <p:sp>
        <p:nvSpPr>
          <p:cNvPr id="31" name="Shape 29"/>
          <p:cNvSpPr/>
          <p:nvPr/>
        </p:nvSpPr>
        <p:spPr>
          <a:xfrm>
            <a:off x="6355080" y="5020056"/>
            <a:ext cx="384048" cy="384048"/>
          </a:xfrm>
          <a:prstGeom prst="ellipse">
            <a:avLst/>
          </a:prstGeom>
          <a:solidFill>
            <a:srgbClr val="1E2761"/>
          </a:solidFill>
          <a:ln/>
        </p:spPr>
      </p:sp>
      <p:sp>
        <p:nvSpPr>
          <p:cNvPr id="32" name="Text 30"/>
          <p:cNvSpPr/>
          <p:nvPr/>
        </p:nvSpPr>
        <p:spPr>
          <a:xfrm>
            <a:off x="6355080" y="5020056"/>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885432" y="4983480"/>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Subtasks &amp; Dependencies</a:t>
            </a:r>
            <a:endParaRPr lang="en-US" sz="1350" dirty="0"/>
          </a:p>
        </p:txBody>
      </p:sp>
      <p:sp>
        <p:nvSpPr>
          <p:cNvPr id="34" name="Text 32"/>
          <p:cNvSpPr/>
          <p:nvPr/>
        </p:nvSpPr>
        <p:spPr>
          <a:xfrm>
            <a:off x="6355080" y="5495544"/>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Thêm việc nhỏ, gắn phụ thuộc giữa các Task</a:t>
            </a:r>
            <a:endParaRPr lang="en-US" sz="1030" dirty="0"/>
          </a:p>
        </p:txBody>
      </p:sp>
      <p:sp>
        <p:nvSpPr>
          <p:cNvPr id="36" name="Text 34"/>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10</a:t>
            </a:r>
            <a:endParaRPr lang="en-US" sz="900" dirty="0"/>
          </a:p>
        </p:txBody>
      </p:sp>
      <p:sp>
        <p:nvSpPr>
          <p:cNvPr id="38" name="Text 32">
            <a:extLst>
              <a:ext uri="{FF2B5EF4-FFF2-40B4-BE49-F238E27FC236}">
                <a16:creationId xmlns:a16="http://schemas.microsoft.com/office/drawing/2014/main" id="{1D0B3E73-A475-8CBD-6A39-07AB2C5B39BC}"/>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5A6B94"/>
                </a:solidFill>
                <a:latin typeface="Calibri" pitchFamily="34" charset="0"/>
                <a:ea typeface="Calibri" pitchFamily="34" charset="-122"/>
                <a:cs typeface="Calibri" pitchFamily="34" charset="-120"/>
              </a:rPr>
              <a:t>CHỨC NĂNG HỆ THỐNG · PHẦN 2</a:t>
            </a:r>
            <a:endParaRPr lang="en-US" sz="1200" dirty="0"/>
          </a:p>
        </p:txBody>
      </p:sp>
      <p:sp>
        <p:nvSpPr>
          <p:cNvPr id="4" name="Text 2"/>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Cộng tác &amp; Quản trị hệ thống</a:t>
            </a:r>
            <a:endParaRPr lang="en-US" sz="3000" dirty="0"/>
          </a:p>
        </p:txBody>
      </p:sp>
      <p:sp>
        <p:nvSpPr>
          <p:cNvPr id="5" name="Shape 3"/>
          <p:cNvSpPr/>
          <p:nvPr/>
        </p:nvSpPr>
        <p:spPr>
          <a:xfrm>
            <a:off x="640080" y="1600200"/>
            <a:ext cx="5394960" cy="1481328"/>
          </a:xfrm>
          <a:prstGeom prst="rect">
            <a:avLst/>
          </a:prstGeom>
          <a:solidFill>
            <a:srgbClr val="F4F6FC"/>
          </a:solidFill>
          <a:ln/>
        </p:spPr>
      </p:sp>
      <p:sp>
        <p:nvSpPr>
          <p:cNvPr id="6" name="Shape 4"/>
          <p:cNvSpPr/>
          <p:nvPr/>
        </p:nvSpPr>
        <p:spPr>
          <a:xfrm>
            <a:off x="822960" y="1783080"/>
            <a:ext cx="384048" cy="384048"/>
          </a:xfrm>
          <a:prstGeom prst="ellipse">
            <a:avLst/>
          </a:prstGeom>
          <a:solidFill>
            <a:srgbClr val="1E2761"/>
          </a:solidFill>
          <a:ln/>
        </p:spPr>
      </p:sp>
      <p:sp>
        <p:nvSpPr>
          <p:cNvPr id="7" name="Text 5"/>
          <p:cNvSpPr/>
          <p:nvPr/>
        </p:nvSpPr>
        <p:spPr>
          <a:xfrm>
            <a:off x="822960" y="1783080"/>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53312" y="1746504"/>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Bình luận &amp; Đính kèm</a:t>
            </a:r>
            <a:endParaRPr lang="en-US" sz="1350" dirty="0"/>
          </a:p>
        </p:txBody>
      </p:sp>
      <p:sp>
        <p:nvSpPr>
          <p:cNvPr id="9" name="Text 7"/>
          <p:cNvSpPr/>
          <p:nvPr/>
        </p:nvSpPr>
        <p:spPr>
          <a:xfrm>
            <a:off x="822960" y="2258568"/>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Comment lồng nhau (nested), đính kèm tệp theo từng Task</a:t>
            </a:r>
            <a:endParaRPr lang="en-US" sz="1030" dirty="0"/>
          </a:p>
        </p:txBody>
      </p:sp>
      <p:sp>
        <p:nvSpPr>
          <p:cNvPr id="10" name="Shape 8"/>
          <p:cNvSpPr/>
          <p:nvPr/>
        </p:nvSpPr>
        <p:spPr>
          <a:xfrm>
            <a:off x="6172200" y="1600200"/>
            <a:ext cx="5394960" cy="1481328"/>
          </a:xfrm>
          <a:prstGeom prst="rect">
            <a:avLst/>
          </a:prstGeom>
          <a:solidFill>
            <a:srgbClr val="F4F6FC"/>
          </a:solidFill>
          <a:ln/>
        </p:spPr>
      </p:sp>
      <p:sp>
        <p:nvSpPr>
          <p:cNvPr id="11" name="Shape 9"/>
          <p:cNvSpPr/>
          <p:nvPr/>
        </p:nvSpPr>
        <p:spPr>
          <a:xfrm>
            <a:off x="6355080" y="1783080"/>
            <a:ext cx="384048" cy="384048"/>
          </a:xfrm>
          <a:prstGeom prst="ellipse">
            <a:avLst/>
          </a:prstGeom>
          <a:solidFill>
            <a:srgbClr val="1E2761"/>
          </a:solidFill>
          <a:ln/>
        </p:spPr>
      </p:sp>
      <p:sp>
        <p:nvSpPr>
          <p:cNvPr id="12" name="Text 10"/>
          <p:cNvSpPr/>
          <p:nvPr/>
        </p:nvSpPr>
        <p:spPr>
          <a:xfrm>
            <a:off x="6355080" y="1783080"/>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85432" y="1746504"/>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Thông báo Realtime</a:t>
            </a:r>
            <a:endParaRPr lang="en-US" sz="1350" dirty="0"/>
          </a:p>
        </p:txBody>
      </p:sp>
      <p:sp>
        <p:nvSpPr>
          <p:cNvPr id="14" name="Text 12"/>
          <p:cNvSpPr/>
          <p:nvPr/>
        </p:nvSpPr>
        <p:spPr>
          <a:xfrm>
            <a:off x="6355080" y="2258568"/>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Notification &amp; trạng thái online tức thời qua Socket.io</a:t>
            </a:r>
            <a:endParaRPr lang="en-US" sz="1030" dirty="0"/>
          </a:p>
        </p:txBody>
      </p:sp>
      <p:sp>
        <p:nvSpPr>
          <p:cNvPr id="15" name="Shape 13"/>
          <p:cNvSpPr/>
          <p:nvPr/>
        </p:nvSpPr>
        <p:spPr>
          <a:xfrm>
            <a:off x="640080" y="3218688"/>
            <a:ext cx="5394960" cy="1481328"/>
          </a:xfrm>
          <a:prstGeom prst="rect">
            <a:avLst/>
          </a:prstGeom>
          <a:solidFill>
            <a:srgbClr val="F4F6FC"/>
          </a:solidFill>
          <a:ln/>
        </p:spPr>
      </p:sp>
      <p:sp>
        <p:nvSpPr>
          <p:cNvPr id="16" name="Shape 14"/>
          <p:cNvSpPr/>
          <p:nvPr/>
        </p:nvSpPr>
        <p:spPr>
          <a:xfrm>
            <a:off x="822960" y="3401568"/>
            <a:ext cx="384048" cy="384048"/>
          </a:xfrm>
          <a:prstGeom prst="ellipse">
            <a:avLst/>
          </a:prstGeom>
          <a:solidFill>
            <a:srgbClr val="1E2761"/>
          </a:solidFill>
          <a:ln/>
        </p:spPr>
      </p:sp>
      <p:sp>
        <p:nvSpPr>
          <p:cNvPr id="17" name="Text 15"/>
          <p:cNvSpPr/>
          <p:nvPr/>
        </p:nvSpPr>
        <p:spPr>
          <a:xfrm>
            <a:off x="822960" y="3401568"/>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53312" y="3364992"/>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Admin Dashboard</a:t>
            </a:r>
            <a:endParaRPr lang="en-US" sz="1350" dirty="0"/>
          </a:p>
        </p:txBody>
      </p:sp>
      <p:sp>
        <p:nvSpPr>
          <p:cNvPr id="19" name="Text 17"/>
          <p:cNvSpPr/>
          <p:nvPr/>
        </p:nvSpPr>
        <p:spPr>
          <a:xfrm>
            <a:off x="822960" y="3877056"/>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Thống kê log 7 ngày, quản lý người dùng, khoá/mở khoá tài khoản</a:t>
            </a:r>
            <a:endParaRPr lang="en-US" sz="1030" dirty="0"/>
          </a:p>
        </p:txBody>
      </p:sp>
      <p:sp>
        <p:nvSpPr>
          <p:cNvPr id="20" name="Shape 18"/>
          <p:cNvSpPr/>
          <p:nvPr/>
        </p:nvSpPr>
        <p:spPr>
          <a:xfrm>
            <a:off x="6172200" y="3218688"/>
            <a:ext cx="5394960" cy="1481328"/>
          </a:xfrm>
          <a:prstGeom prst="rect">
            <a:avLst/>
          </a:prstGeom>
          <a:solidFill>
            <a:srgbClr val="F4F6FC"/>
          </a:solidFill>
          <a:ln/>
        </p:spPr>
      </p:sp>
      <p:sp>
        <p:nvSpPr>
          <p:cNvPr id="21" name="Shape 19"/>
          <p:cNvSpPr/>
          <p:nvPr/>
        </p:nvSpPr>
        <p:spPr>
          <a:xfrm>
            <a:off x="6355080" y="3401568"/>
            <a:ext cx="384048" cy="384048"/>
          </a:xfrm>
          <a:prstGeom prst="ellipse">
            <a:avLst/>
          </a:prstGeom>
          <a:solidFill>
            <a:srgbClr val="1E2761"/>
          </a:solidFill>
          <a:ln/>
        </p:spPr>
      </p:sp>
      <p:sp>
        <p:nvSpPr>
          <p:cNvPr id="22" name="Text 20"/>
          <p:cNvSpPr/>
          <p:nvPr/>
        </p:nvSpPr>
        <p:spPr>
          <a:xfrm>
            <a:off x="6355080" y="3401568"/>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85432" y="3364992"/>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Nhãn &amp; Phân loại</a:t>
            </a:r>
            <a:endParaRPr lang="en-US" sz="1350" dirty="0"/>
          </a:p>
        </p:txBody>
      </p:sp>
      <p:sp>
        <p:nvSpPr>
          <p:cNvPr id="24" name="Text 22"/>
          <p:cNvSpPr/>
          <p:nvPr/>
        </p:nvSpPr>
        <p:spPr>
          <a:xfrm>
            <a:off x="6355080" y="3877056"/>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Gắn label màu sắc để phân loại và lọc công việc nhanh</a:t>
            </a:r>
            <a:endParaRPr lang="en-US" sz="1030" dirty="0"/>
          </a:p>
        </p:txBody>
      </p:sp>
      <p:sp>
        <p:nvSpPr>
          <p:cNvPr id="25" name="Shape 23"/>
          <p:cNvSpPr/>
          <p:nvPr/>
        </p:nvSpPr>
        <p:spPr>
          <a:xfrm>
            <a:off x="640080" y="4837176"/>
            <a:ext cx="5394960" cy="1481328"/>
          </a:xfrm>
          <a:prstGeom prst="rect">
            <a:avLst/>
          </a:prstGeom>
          <a:solidFill>
            <a:srgbClr val="F4F6FC"/>
          </a:solidFill>
          <a:ln/>
        </p:spPr>
      </p:sp>
      <p:sp>
        <p:nvSpPr>
          <p:cNvPr id="26" name="Shape 24"/>
          <p:cNvSpPr/>
          <p:nvPr/>
        </p:nvSpPr>
        <p:spPr>
          <a:xfrm>
            <a:off x="822960" y="5020056"/>
            <a:ext cx="384048" cy="384048"/>
          </a:xfrm>
          <a:prstGeom prst="ellipse">
            <a:avLst/>
          </a:prstGeom>
          <a:solidFill>
            <a:srgbClr val="1E2761"/>
          </a:solidFill>
          <a:ln/>
        </p:spPr>
      </p:sp>
      <p:sp>
        <p:nvSpPr>
          <p:cNvPr id="27" name="Text 25"/>
          <p:cNvSpPr/>
          <p:nvPr/>
        </p:nvSpPr>
        <p:spPr>
          <a:xfrm>
            <a:off x="822960" y="5020056"/>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353312" y="4983480"/>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Nhật ký hoạt động</a:t>
            </a:r>
            <a:endParaRPr lang="en-US" sz="1350" dirty="0"/>
          </a:p>
        </p:txBody>
      </p:sp>
      <p:sp>
        <p:nvSpPr>
          <p:cNvPr id="29" name="Text 27"/>
          <p:cNvSpPr/>
          <p:nvPr/>
        </p:nvSpPr>
        <p:spPr>
          <a:xfrm>
            <a:off x="822960" y="5495544"/>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Activity Log &amp; User Status Log ghi vết mọi hành động quan trọng</a:t>
            </a:r>
            <a:endParaRPr lang="en-US" sz="1030" dirty="0"/>
          </a:p>
        </p:txBody>
      </p:sp>
      <p:sp>
        <p:nvSpPr>
          <p:cNvPr id="30" name="Shape 28"/>
          <p:cNvSpPr/>
          <p:nvPr/>
        </p:nvSpPr>
        <p:spPr>
          <a:xfrm>
            <a:off x="6172200" y="4837176"/>
            <a:ext cx="5394960" cy="1481328"/>
          </a:xfrm>
          <a:prstGeom prst="rect">
            <a:avLst/>
          </a:prstGeom>
          <a:solidFill>
            <a:srgbClr val="F4F6FC"/>
          </a:solidFill>
          <a:ln/>
        </p:spPr>
      </p:sp>
      <p:sp>
        <p:nvSpPr>
          <p:cNvPr id="31" name="Shape 29"/>
          <p:cNvSpPr/>
          <p:nvPr/>
        </p:nvSpPr>
        <p:spPr>
          <a:xfrm>
            <a:off x="6355080" y="5020056"/>
            <a:ext cx="384048" cy="384048"/>
          </a:xfrm>
          <a:prstGeom prst="ellipse">
            <a:avLst/>
          </a:prstGeom>
          <a:solidFill>
            <a:srgbClr val="1E2761"/>
          </a:solidFill>
          <a:ln/>
        </p:spPr>
      </p:sp>
      <p:sp>
        <p:nvSpPr>
          <p:cNvPr id="32" name="Text 30"/>
          <p:cNvSpPr/>
          <p:nvPr/>
        </p:nvSpPr>
        <p:spPr>
          <a:xfrm>
            <a:off x="6355080" y="5020056"/>
            <a:ext cx="384048" cy="384048"/>
          </a:xfrm>
          <a:prstGeom prst="rect">
            <a:avLst/>
          </a:prstGeom>
          <a:noFill/>
          <a:ln/>
        </p:spPr>
        <p:txBody>
          <a:bodyPr wrap="square" lIns="0" tIns="0" rIns="0" bIns="0" rtlCol="0" anchor="ctr"/>
          <a:lstStyle/>
          <a:p>
            <a:pPr marL="0" indent="0" algn="ctr">
              <a:buNone/>
            </a:pPr>
            <a:r>
              <a:rPr lang="en-US" sz="1300" b="1" dirty="0">
                <a:solidFill>
                  <a:srgbClr val="F4B942"/>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885432" y="4983480"/>
            <a:ext cx="4480560" cy="45720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Hồ sơ người dùng</a:t>
            </a:r>
            <a:endParaRPr lang="en-US" sz="1350" dirty="0"/>
          </a:p>
        </p:txBody>
      </p:sp>
      <p:sp>
        <p:nvSpPr>
          <p:cNvPr id="34" name="Text 32"/>
          <p:cNvSpPr/>
          <p:nvPr/>
        </p:nvSpPr>
        <p:spPr>
          <a:xfrm>
            <a:off x="6355080" y="5495544"/>
            <a:ext cx="5029200" cy="731520"/>
          </a:xfrm>
          <a:prstGeom prst="rect">
            <a:avLst/>
          </a:prstGeom>
          <a:noFill/>
          <a:ln/>
        </p:spPr>
        <p:txBody>
          <a:bodyPr wrap="square" lIns="0" tIns="0" rIns="0" bIns="0" rtlCol="0" anchor="ctr"/>
          <a:lstStyle/>
          <a:p>
            <a:pPr marL="0" indent="0">
              <a:lnSpc>
                <a:spcPct val="120000"/>
              </a:lnSpc>
              <a:buNone/>
            </a:pPr>
            <a:r>
              <a:rPr lang="en-US" sz="1030" dirty="0">
                <a:solidFill>
                  <a:srgbClr val="5A6580"/>
                </a:solidFill>
                <a:latin typeface="Calibri" pitchFamily="34" charset="0"/>
                <a:ea typeface="Calibri" pitchFamily="34" charset="-122"/>
                <a:cs typeface="Calibri" pitchFamily="34" charset="-120"/>
              </a:rPr>
              <a:t>Cập nhật profile kiểu Jira: chức danh, phòng ban, công ty, avatar</a:t>
            </a:r>
            <a:endParaRPr lang="en-US" sz="1030" dirty="0"/>
          </a:p>
        </p:txBody>
      </p:sp>
      <p:sp>
        <p:nvSpPr>
          <p:cNvPr id="36" name="Text 34"/>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5A6580"/>
                </a:solidFill>
                <a:latin typeface="Calibri" pitchFamily="34" charset="0"/>
                <a:ea typeface="Calibri" pitchFamily="34" charset="-122"/>
                <a:cs typeface="Calibri" pitchFamily="34" charset="-120"/>
              </a:rPr>
              <a:t>11</a:t>
            </a:r>
            <a:endParaRPr lang="en-US" sz="900" dirty="0"/>
          </a:p>
        </p:txBody>
      </p:sp>
      <p:sp>
        <p:nvSpPr>
          <p:cNvPr id="38" name="Text 32">
            <a:extLst>
              <a:ext uri="{FF2B5EF4-FFF2-40B4-BE49-F238E27FC236}">
                <a16:creationId xmlns:a16="http://schemas.microsoft.com/office/drawing/2014/main" id="{BA906B67-FEBA-D4C4-9E16-5C085903C1D5}"/>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0332720" y="-1188720"/>
            <a:ext cx="3291840" cy="3291840"/>
          </a:xfrm>
          <a:prstGeom prst="ellipse">
            <a:avLst/>
          </a:prstGeom>
          <a:solidFill>
            <a:srgbClr val="1E2761">
              <a:alpha val="60000"/>
            </a:srgbClr>
          </a:solidFill>
          <a:ln/>
        </p:spPr>
      </p:sp>
      <p:sp>
        <p:nvSpPr>
          <p:cNvPr id="3" name="Shape 1"/>
          <p:cNvSpPr/>
          <p:nvPr/>
        </p:nvSpPr>
        <p:spPr>
          <a:xfrm>
            <a:off x="-1280160" y="5120640"/>
            <a:ext cx="2926080" cy="2926080"/>
          </a:xfrm>
          <a:prstGeom prst="ellipse">
            <a:avLst/>
          </a:prstGeom>
          <a:solidFill>
            <a:srgbClr val="1E2761">
              <a:alpha val="45000"/>
            </a:srgbClr>
          </a:solidFill>
          <a:ln/>
        </p:spPr>
      </p:sp>
      <p:sp>
        <p:nvSpPr>
          <p:cNvPr id="4" name="Text 2"/>
          <p:cNvSpPr/>
          <p:nvPr/>
        </p:nvSpPr>
        <p:spPr>
          <a:xfrm>
            <a:off x="640080" y="457200"/>
            <a:ext cx="8229600" cy="320040"/>
          </a:xfrm>
          <a:prstGeom prst="rect">
            <a:avLst/>
          </a:prstGeom>
          <a:noFill/>
          <a:ln/>
        </p:spPr>
        <p:txBody>
          <a:bodyPr wrap="square" lIns="0" tIns="0" rIns="0" bIns="0" rtlCol="0" anchor="ctr"/>
          <a:lstStyle/>
          <a:p>
            <a:pPr marL="0" indent="0">
              <a:buNone/>
            </a:pPr>
            <a:r>
              <a:rPr lang="en-US" sz="1200" b="1" kern="0" spc="200" dirty="0">
                <a:solidFill>
                  <a:srgbClr val="F4B942"/>
                </a:solidFill>
                <a:latin typeface="Calibri" pitchFamily="34" charset="0"/>
                <a:ea typeface="Calibri" pitchFamily="34" charset="-122"/>
                <a:cs typeface="Calibri" pitchFamily="34" charset="-120"/>
              </a:rPr>
              <a:t>BẢO MẬT &amp; TRIỂN KHAI</a:t>
            </a:r>
            <a:endParaRPr lang="en-US" sz="1200" dirty="0"/>
          </a:p>
        </p:txBody>
      </p:sp>
      <p:sp>
        <p:nvSpPr>
          <p:cNvPr id="5" name="Text 3"/>
          <p:cNvSpPr/>
          <p:nvPr/>
        </p:nvSpPr>
        <p:spPr>
          <a:xfrm>
            <a:off x="640080" y="7772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Bảo mật &amp; Vận hành hệ thống</a:t>
            </a:r>
            <a:endParaRPr lang="en-US" sz="3000" dirty="0"/>
          </a:p>
        </p:txBody>
      </p:sp>
      <p:sp>
        <p:nvSpPr>
          <p:cNvPr id="6" name="Text 4"/>
          <p:cNvSpPr/>
          <p:nvPr/>
        </p:nvSpPr>
        <p:spPr>
          <a:xfrm>
            <a:off x="640080" y="1600200"/>
            <a:ext cx="5120640" cy="320040"/>
          </a:xfrm>
          <a:prstGeom prst="rect">
            <a:avLst/>
          </a:prstGeom>
          <a:noFill/>
          <a:ln/>
        </p:spPr>
        <p:txBody>
          <a:bodyPr wrap="square" lIns="0" tIns="0" rIns="0" bIns="0" rtlCol="0" anchor="ctr"/>
          <a:lstStyle/>
          <a:p>
            <a:pPr marL="0" indent="0">
              <a:buNone/>
            </a:pPr>
            <a:r>
              <a:rPr lang="en-US" sz="1250" b="1" kern="0" spc="150" dirty="0">
                <a:solidFill>
                  <a:srgbClr val="F4B942"/>
                </a:solidFill>
                <a:latin typeface="Calibri" pitchFamily="34" charset="0"/>
                <a:ea typeface="Calibri" pitchFamily="34" charset="-122"/>
                <a:cs typeface="Calibri" pitchFamily="34" charset="-120"/>
              </a:rPr>
              <a:t>BẢO MẬT</a:t>
            </a:r>
            <a:endParaRPr lang="en-US" sz="1250" dirty="0"/>
          </a:p>
        </p:txBody>
      </p:sp>
      <p:sp>
        <p:nvSpPr>
          <p:cNvPr id="7" name="Shape 5"/>
          <p:cNvSpPr/>
          <p:nvPr/>
        </p:nvSpPr>
        <p:spPr>
          <a:xfrm>
            <a:off x="640080" y="2075688"/>
            <a:ext cx="82296" cy="82296"/>
          </a:xfrm>
          <a:prstGeom prst="ellipse">
            <a:avLst/>
          </a:prstGeom>
          <a:solidFill>
            <a:srgbClr val="F4B942"/>
          </a:solidFill>
          <a:ln/>
        </p:spPr>
      </p:sp>
      <p:sp>
        <p:nvSpPr>
          <p:cNvPr id="8" name="Text 6"/>
          <p:cNvSpPr/>
          <p:nvPr/>
        </p:nvSpPr>
        <p:spPr>
          <a:xfrm>
            <a:off x="850392" y="1938528"/>
            <a:ext cx="4937760" cy="457200"/>
          </a:xfrm>
          <a:prstGeom prst="rect">
            <a:avLst/>
          </a:prstGeom>
          <a:noFill/>
          <a:ln/>
        </p:spPr>
        <p:txBody>
          <a:bodyPr wrap="square" lIns="0" tIns="0" rIns="0" bIns="0" rtlCol="0" anchor="ctr"/>
          <a:lstStyle/>
          <a:p>
            <a:pPr marL="0" indent="0">
              <a:lnSpc>
                <a:spcPct val="120000"/>
              </a:lnSpc>
              <a:buNone/>
            </a:pPr>
            <a:r>
              <a:rPr lang="en-US" sz="1180" dirty="0">
                <a:solidFill>
                  <a:srgbClr val="DCE3F7"/>
                </a:solidFill>
                <a:latin typeface="Calibri" pitchFamily="34" charset="0"/>
                <a:ea typeface="Calibri" pitchFamily="34" charset="-122"/>
                <a:cs typeface="Calibri" pitchFamily="34" charset="-120"/>
              </a:rPr>
              <a:t>JWT xác thực qua HttpOnly Cookie &amp; Bearer Header</a:t>
            </a:r>
            <a:endParaRPr lang="en-US" sz="1180" dirty="0"/>
          </a:p>
        </p:txBody>
      </p:sp>
      <p:sp>
        <p:nvSpPr>
          <p:cNvPr id="9" name="Shape 7"/>
          <p:cNvSpPr/>
          <p:nvPr/>
        </p:nvSpPr>
        <p:spPr>
          <a:xfrm>
            <a:off x="640080" y="2642616"/>
            <a:ext cx="82296" cy="82296"/>
          </a:xfrm>
          <a:prstGeom prst="ellipse">
            <a:avLst/>
          </a:prstGeom>
          <a:solidFill>
            <a:srgbClr val="F4B942"/>
          </a:solidFill>
          <a:ln/>
        </p:spPr>
      </p:sp>
      <p:sp>
        <p:nvSpPr>
          <p:cNvPr id="10" name="Text 8"/>
          <p:cNvSpPr/>
          <p:nvPr/>
        </p:nvSpPr>
        <p:spPr>
          <a:xfrm>
            <a:off x="850392" y="2505456"/>
            <a:ext cx="4937760" cy="457200"/>
          </a:xfrm>
          <a:prstGeom prst="rect">
            <a:avLst/>
          </a:prstGeom>
          <a:noFill/>
          <a:ln/>
        </p:spPr>
        <p:txBody>
          <a:bodyPr wrap="square" lIns="0" tIns="0" rIns="0" bIns="0" rtlCol="0" anchor="ctr"/>
          <a:lstStyle/>
          <a:p>
            <a:pPr marL="0" indent="0">
              <a:lnSpc>
                <a:spcPct val="120000"/>
              </a:lnSpc>
              <a:buNone/>
            </a:pPr>
            <a:r>
              <a:rPr lang="en-US" sz="1180" dirty="0">
                <a:solidFill>
                  <a:srgbClr val="DCE3F7"/>
                </a:solidFill>
                <a:latin typeface="Calibri" pitchFamily="34" charset="0"/>
                <a:ea typeface="Calibri" pitchFamily="34" charset="-122"/>
                <a:cs typeface="Calibri" pitchFamily="34" charset="-120"/>
              </a:rPr>
              <a:t>bcrypt.js mã hoá mật khẩu người dùng</a:t>
            </a:r>
            <a:endParaRPr lang="en-US" sz="1180" dirty="0"/>
          </a:p>
        </p:txBody>
      </p:sp>
      <p:sp>
        <p:nvSpPr>
          <p:cNvPr id="11" name="Shape 9"/>
          <p:cNvSpPr/>
          <p:nvPr/>
        </p:nvSpPr>
        <p:spPr>
          <a:xfrm>
            <a:off x="640080" y="3209544"/>
            <a:ext cx="82296" cy="82296"/>
          </a:xfrm>
          <a:prstGeom prst="ellipse">
            <a:avLst/>
          </a:prstGeom>
          <a:solidFill>
            <a:srgbClr val="F4B942"/>
          </a:solidFill>
          <a:ln/>
        </p:spPr>
      </p:sp>
      <p:sp>
        <p:nvSpPr>
          <p:cNvPr id="12" name="Text 10"/>
          <p:cNvSpPr/>
          <p:nvPr/>
        </p:nvSpPr>
        <p:spPr>
          <a:xfrm>
            <a:off x="850392" y="3072384"/>
            <a:ext cx="4937760" cy="457200"/>
          </a:xfrm>
          <a:prstGeom prst="rect">
            <a:avLst/>
          </a:prstGeom>
          <a:noFill/>
          <a:ln/>
        </p:spPr>
        <p:txBody>
          <a:bodyPr wrap="square" lIns="0" tIns="0" rIns="0" bIns="0" rtlCol="0" anchor="ctr"/>
          <a:lstStyle/>
          <a:p>
            <a:pPr marL="0" indent="0">
              <a:lnSpc>
                <a:spcPct val="120000"/>
              </a:lnSpc>
              <a:buNone/>
            </a:pPr>
            <a:r>
              <a:rPr lang="en-US" sz="1180" dirty="0">
                <a:solidFill>
                  <a:srgbClr val="DCE3F7"/>
                </a:solidFill>
                <a:latin typeface="Calibri" pitchFamily="34" charset="0"/>
                <a:ea typeface="Calibri" pitchFamily="34" charset="-122"/>
                <a:cs typeface="Calibri" pitchFamily="34" charset="-120"/>
              </a:rPr>
              <a:t>express-rate-limit chống tấn công brute-force</a:t>
            </a:r>
            <a:endParaRPr lang="en-US" sz="1180" dirty="0"/>
          </a:p>
        </p:txBody>
      </p:sp>
      <p:sp>
        <p:nvSpPr>
          <p:cNvPr id="13" name="Shape 11"/>
          <p:cNvSpPr/>
          <p:nvPr/>
        </p:nvSpPr>
        <p:spPr>
          <a:xfrm>
            <a:off x="640080" y="3776472"/>
            <a:ext cx="82296" cy="82296"/>
          </a:xfrm>
          <a:prstGeom prst="ellipse">
            <a:avLst/>
          </a:prstGeom>
          <a:solidFill>
            <a:srgbClr val="F4B942"/>
          </a:solidFill>
          <a:ln/>
        </p:spPr>
      </p:sp>
      <p:sp>
        <p:nvSpPr>
          <p:cNvPr id="14" name="Text 12"/>
          <p:cNvSpPr/>
          <p:nvPr/>
        </p:nvSpPr>
        <p:spPr>
          <a:xfrm>
            <a:off x="850392" y="3639312"/>
            <a:ext cx="4937760" cy="457200"/>
          </a:xfrm>
          <a:prstGeom prst="rect">
            <a:avLst/>
          </a:prstGeom>
          <a:noFill/>
          <a:ln/>
        </p:spPr>
        <p:txBody>
          <a:bodyPr wrap="square" lIns="0" tIns="0" rIns="0" bIns="0" rtlCol="0" anchor="ctr"/>
          <a:lstStyle/>
          <a:p>
            <a:pPr marL="0" indent="0">
              <a:lnSpc>
                <a:spcPct val="120000"/>
              </a:lnSpc>
              <a:buNone/>
            </a:pPr>
            <a:r>
              <a:rPr lang="en-US" sz="1180" dirty="0">
                <a:solidFill>
                  <a:srgbClr val="DCE3F7"/>
                </a:solidFill>
                <a:latin typeface="Calibri" pitchFamily="34" charset="0"/>
                <a:ea typeface="Calibri" pitchFamily="34" charset="-122"/>
                <a:cs typeface="Calibri" pitchFamily="34" charset="-120"/>
              </a:rPr>
              <a:t>CORS &amp; Cookie-Parser kiểm soát truy cập chéo nguồn</a:t>
            </a:r>
            <a:endParaRPr lang="en-US" sz="1180" dirty="0"/>
          </a:p>
        </p:txBody>
      </p:sp>
      <p:sp>
        <p:nvSpPr>
          <p:cNvPr id="15" name="Shape 13"/>
          <p:cNvSpPr/>
          <p:nvPr/>
        </p:nvSpPr>
        <p:spPr>
          <a:xfrm>
            <a:off x="640080" y="4343400"/>
            <a:ext cx="82296" cy="82296"/>
          </a:xfrm>
          <a:prstGeom prst="ellipse">
            <a:avLst/>
          </a:prstGeom>
          <a:solidFill>
            <a:srgbClr val="F4B942"/>
          </a:solidFill>
          <a:ln/>
        </p:spPr>
      </p:sp>
      <p:sp>
        <p:nvSpPr>
          <p:cNvPr id="16" name="Text 14"/>
          <p:cNvSpPr/>
          <p:nvPr/>
        </p:nvSpPr>
        <p:spPr>
          <a:xfrm>
            <a:off x="850392" y="4206240"/>
            <a:ext cx="4937760" cy="457200"/>
          </a:xfrm>
          <a:prstGeom prst="rect">
            <a:avLst/>
          </a:prstGeom>
          <a:noFill/>
          <a:ln/>
        </p:spPr>
        <p:txBody>
          <a:bodyPr wrap="square" lIns="0" tIns="0" rIns="0" bIns="0" rtlCol="0" anchor="ctr"/>
          <a:lstStyle/>
          <a:p>
            <a:pPr marL="0" indent="0">
              <a:lnSpc>
                <a:spcPct val="120000"/>
              </a:lnSpc>
              <a:buNone/>
            </a:pPr>
            <a:r>
              <a:rPr lang="en-US" sz="1180" dirty="0">
                <a:solidFill>
                  <a:srgbClr val="DCE3F7"/>
                </a:solidFill>
                <a:latin typeface="Calibri" pitchFamily="34" charset="0"/>
                <a:ea typeface="Calibri" pitchFamily="34" charset="-122"/>
                <a:cs typeface="Calibri" pitchFamily="34" charset="-120"/>
              </a:rPr>
              <a:t>OTP qua Nodemailer cho luồng quên mật khẩu</a:t>
            </a:r>
            <a:endParaRPr lang="en-US" sz="1180" dirty="0"/>
          </a:p>
        </p:txBody>
      </p:sp>
      <p:sp>
        <p:nvSpPr>
          <p:cNvPr id="17" name="Shape 15"/>
          <p:cNvSpPr/>
          <p:nvPr/>
        </p:nvSpPr>
        <p:spPr>
          <a:xfrm>
            <a:off x="6035040" y="1645920"/>
            <a:ext cx="0" cy="4480560"/>
          </a:xfrm>
          <a:prstGeom prst="line">
            <a:avLst/>
          </a:prstGeom>
          <a:noFill/>
          <a:ln w="12700">
            <a:solidFill>
              <a:srgbClr val="3B4680"/>
            </a:solidFill>
            <a:prstDash val="solid"/>
          </a:ln>
        </p:spPr>
      </p:sp>
      <p:sp>
        <p:nvSpPr>
          <p:cNvPr id="18" name="Text 16"/>
          <p:cNvSpPr/>
          <p:nvPr/>
        </p:nvSpPr>
        <p:spPr>
          <a:xfrm>
            <a:off x="6355080" y="1600200"/>
            <a:ext cx="5120640" cy="320040"/>
          </a:xfrm>
          <a:prstGeom prst="rect">
            <a:avLst/>
          </a:prstGeom>
          <a:noFill/>
          <a:ln/>
        </p:spPr>
        <p:txBody>
          <a:bodyPr wrap="square" lIns="0" tIns="0" rIns="0" bIns="0" rtlCol="0" anchor="ctr"/>
          <a:lstStyle/>
          <a:p>
            <a:pPr marL="0" indent="0">
              <a:buNone/>
            </a:pPr>
            <a:r>
              <a:rPr lang="en-US" sz="1250" b="1" kern="0" spc="150" dirty="0">
                <a:solidFill>
                  <a:srgbClr val="F4B942"/>
                </a:solidFill>
                <a:latin typeface="Calibri" pitchFamily="34" charset="0"/>
                <a:ea typeface="Calibri" pitchFamily="34" charset="-122"/>
                <a:cs typeface="Calibri" pitchFamily="34" charset="-120"/>
              </a:rPr>
              <a:t>VẬN HÀNH &amp; TRIỂN KHAI</a:t>
            </a:r>
            <a:endParaRPr lang="en-US" sz="1250" dirty="0"/>
          </a:p>
        </p:txBody>
      </p:sp>
      <p:sp>
        <p:nvSpPr>
          <p:cNvPr id="19" name="Shape 17"/>
          <p:cNvSpPr/>
          <p:nvPr/>
        </p:nvSpPr>
        <p:spPr>
          <a:xfrm>
            <a:off x="6355080" y="2011680"/>
            <a:ext cx="5166360" cy="868680"/>
          </a:xfrm>
          <a:prstGeom prst="rect">
            <a:avLst/>
          </a:prstGeom>
          <a:solidFill>
            <a:srgbClr val="FFFFFF">
              <a:alpha val="6000"/>
            </a:srgbClr>
          </a:solidFill>
          <a:ln w="9525">
            <a:solidFill>
              <a:srgbClr val="3B4680"/>
            </a:solidFill>
            <a:prstDash val="solid"/>
          </a:ln>
        </p:spPr>
      </p:sp>
      <p:sp>
        <p:nvSpPr>
          <p:cNvPr id="20" name="Text 18"/>
          <p:cNvSpPr/>
          <p:nvPr/>
        </p:nvSpPr>
        <p:spPr>
          <a:xfrm>
            <a:off x="6492240" y="2011680"/>
            <a:ext cx="457200" cy="868680"/>
          </a:xfrm>
          <a:prstGeom prst="rect">
            <a:avLst/>
          </a:prstGeom>
          <a:noFill/>
          <a:ln/>
        </p:spPr>
        <p:txBody>
          <a:bodyPr wrap="square" lIns="0" tIns="0" rIns="0" bIns="0" rtlCol="0" anchor="ctr"/>
          <a:lstStyle/>
          <a:p>
            <a:pPr marL="0" indent="0">
              <a:buNone/>
            </a:pPr>
            <a:r>
              <a:rPr lang="en-US" sz="2000" b="1" dirty="0">
                <a:solidFill>
                  <a:srgbClr val="F4B942"/>
                </a:solidFill>
                <a:latin typeface="Cambria" pitchFamily="34" charset="0"/>
                <a:ea typeface="Cambria" pitchFamily="34" charset="-122"/>
                <a:cs typeface="Cambria" pitchFamily="34" charset="-120"/>
              </a:rPr>
              <a:t>1</a:t>
            </a:r>
            <a:endParaRPr lang="en-US" sz="2000" dirty="0"/>
          </a:p>
        </p:txBody>
      </p:sp>
      <p:sp>
        <p:nvSpPr>
          <p:cNvPr id="21" name="Text 19"/>
          <p:cNvSpPr/>
          <p:nvPr/>
        </p:nvSpPr>
        <p:spPr>
          <a:xfrm>
            <a:off x="6995160" y="2103120"/>
            <a:ext cx="4389120" cy="274320"/>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Backend</a:t>
            </a:r>
            <a:endParaRPr lang="en-US" sz="1250" dirty="0"/>
          </a:p>
        </p:txBody>
      </p:sp>
      <p:sp>
        <p:nvSpPr>
          <p:cNvPr id="22" name="Text 20"/>
          <p:cNvSpPr/>
          <p:nvPr/>
        </p:nvSpPr>
        <p:spPr>
          <a:xfrm>
            <a:off x="6995160" y="2377440"/>
            <a:ext cx="4389120" cy="274320"/>
          </a:xfrm>
          <a:prstGeom prst="rect">
            <a:avLst/>
          </a:prstGeom>
          <a:noFill/>
          <a:ln/>
        </p:spPr>
        <p:txBody>
          <a:bodyPr wrap="square" lIns="0" tIns="0" rIns="0" bIns="0" rtlCol="0" anchor="ctr"/>
          <a:lstStyle/>
          <a:p>
            <a:pPr marL="0" indent="0">
              <a:buNone/>
            </a:pPr>
            <a:r>
              <a:rPr lang="en-US" sz="980" dirty="0">
                <a:solidFill>
                  <a:srgbClr val="C4CDEE"/>
                </a:solidFill>
                <a:latin typeface="Calibri" pitchFamily="34" charset="0"/>
                <a:ea typeface="Calibri" pitchFamily="34" charset="-122"/>
                <a:cs typeface="Calibri" pitchFamily="34" charset="-120"/>
              </a:rPr>
              <a:t>cd vunis-be → npm install → node server.js</a:t>
            </a:r>
            <a:endParaRPr lang="en-US" sz="980" dirty="0"/>
          </a:p>
        </p:txBody>
      </p:sp>
      <p:sp>
        <p:nvSpPr>
          <p:cNvPr id="23" name="Text 21"/>
          <p:cNvSpPr/>
          <p:nvPr/>
        </p:nvSpPr>
        <p:spPr>
          <a:xfrm>
            <a:off x="6995160" y="2606040"/>
            <a:ext cx="4389120" cy="274320"/>
          </a:xfrm>
          <a:prstGeom prst="rect">
            <a:avLst/>
          </a:prstGeom>
          <a:noFill/>
          <a:ln/>
        </p:spPr>
        <p:txBody>
          <a:bodyPr wrap="square" lIns="0" tIns="0" rIns="0" bIns="0" rtlCol="0" anchor="ctr"/>
          <a:lstStyle/>
          <a:p>
            <a:pPr marL="0" indent="0">
              <a:buNone/>
            </a:pPr>
            <a:r>
              <a:rPr lang="en-US" sz="980" i="1" dirty="0">
                <a:solidFill>
                  <a:srgbClr val="F4B942"/>
                </a:solidFill>
                <a:latin typeface="Calibri" pitchFamily="34" charset="0"/>
                <a:ea typeface="Calibri" pitchFamily="34" charset="-122"/>
                <a:cs typeface="Calibri" pitchFamily="34" charset="-120"/>
              </a:rPr>
              <a:t>http://localhost:5000</a:t>
            </a:r>
            <a:endParaRPr lang="en-US" sz="980" dirty="0"/>
          </a:p>
        </p:txBody>
      </p:sp>
      <p:sp>
        <p:nvSpPr>
          <p:cNvPr id="24" name="Shape 22"/>
          <p:cNvSpPr/>
          <p:nvPr/>
        </p:nvSpPr>
        <p:spPr>
          <a:xfrm>
            <a:off x="6355080" y="3044952"/>
            <a:ext cx="5166360" cy="868680"/>
          </a:xfrm>
          <a:prstGeom prst="rect">
            <a:avLst/>
          </a:prstGeom>
          <a:solidFill>
            <a:srgbClr val="FFFFFF">
              <a:alpha val="6000"/>
            </a:srgbClr>
          </a:solidFill>
          <a:ln w="9525">
            <a:solidFill>
              <a:srgbClr val="3B4680"/>
            </a:solidFill>
            <a:prstDash val="solid"/>
          </a:ln>
        </p:spPr>
      </p:sp>
      <p:sp>
        <p:nvSpPr>
          <p:cNvPr id="25" name="Text 23"/>
          <p:cNvSpPr/>
          <p:nvPr/>
        </p:nvSpPr>
        <p:spPr>
          <a:xfrm>
            <a:off x="6492240" y="3044952"/>
            <a:ext cx="457200" cy="868680"/>
          </a:xfrm>
          <a:prstGeom prst="rect">
            <a:avLst/>
          </a:prstGeom>
          <a:noFill/>
          <a:ln/>
        </p:spPr>
        <p:txBody>
          <a:bodyPr wrap="square" lIns="0" tIns="0" rIns="0" bIns="0" rtlCol="0" anchor="ctr"/>
          <a:lstStyle/>
          <a:p>
            <a:pPr marL="0" indent="0">
              <a:buNone/>
            </a:pPr>
            <a:r>
              <a:rPr lang="en-US" sz="2000" b="1" dirty="0">
                <a:solidFill>
                  <a:srgbClr val="F4B942"/>
                </a:solidFill>
                <a:latin typeface="Cambria" pitchFamily="34" charset="0"/>
                <a:ea typeface="Cambria" pitchFamily="34" charset="-122"/>
                <a:cs typeface="Cambria" pitchFamily="34" charset="-120"/>
              </a:rPr>
              <a:t>2</a:t>
            </a:r>
            <a:endParaRPr lang="en-US" sz="2000" dirty="0"/>
          </a:p>
        </p:txBody>
      </p:sp>
      <p:sp>
        <p:nvSpPr>
          <p:cNvPr id="26" name="Text 24"/>
          <p:cNvSpPr/>
          <p:nvPr/>
        </p:nvSpPr>
        <p:spPr>
          <a:xfrm>
            <a:off x="6995160" y="3136392"/>
            <a:ext cx="4389120" cy="274320"/>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Frontend</a:t>
            </a:r>
            <a:endParaRPr lang="en-US" sz="1250" dirty="0"/>
          </a:p>
        </p:txBody>
      </p:sp>
      <p:sp>
        <p:nvSpPr>
          <p:cNvPr id="27" name="Text 25"/>
          <p:cNvSpPr/>
          <p:nvPr/>
        </p:nvSpPr>
        <p:spPr>
          <a:xfrm>
            <a:off x="6995160" y="3410712"/>
            <a:ext cx="4389120" cy="274320"/>
          </a:xfrm>
          <a:prstGeom prst="rect">
            <a:avLst/>
          </a:prstGeom>
          <a:noFill/>
          <a:ln/>
        </p:spPr>
        <p:txBody>
          <a:bodyPr wrap="square" lIns="0" tIns="0" rIns="0" bIns="0" rtlCol="0" anchor="ctr"/>
          <a:lstStyle/>
          <a:p>
            <a:pPr marL="0" indent="0">
              <a:buNone/>
            </a:pPr>
            <a:r>
              <a:rPr lang="en-US" sz="980" dirty="0">
                <a:solidFill>
                  <a:srgbClr val="C4CDEE"/>
                </a:solidFill>
                <a:latin typeface="Calibri" pitchFamily="34" charset="0"/>
                <a:ea typeface="Calibri" pitchFamily="34" charset="-122"/>
                <a:cs typeface="Calibri" pitchFamily="34" charset="-120"/>
              </a:rPr>
              <a:t>cd vunis-fe → npm install → npm run dev</a:t>
            </a:r>
            <a:endParaRPr lang="en-US" sz="980" dirty="0"/>
          </a:p>
        </p:txBody>
      </p:sp>
      <p:sp>
        <p:nvSpPr>
          <p:cNvPr id="28" name="Text 26"/>
          <p:cNvSpPr/>
          <p:nvPr/>
        </p:nvSpPr>
        <p:spPr>
          <a:xfrm>
            <a:off x="6995160" y="3639312"/>
            <a:ext cx="4389120" cy="274320"/>
          </a:xfrm>
          <a:prstGeom prst="rect">
            <a:avLst/>
          </a:prstGeom>
          <a:noFill/>
          <a:ln/>
        </p:spPr>
        <p:txBody>
          <a:bodyPr wrap="square" lIns="0" tIns="0" rIns="0" bIns="0" rtlCol="0" anchor="ctr"/>
          <a:lstStyle/>
          <a:p>
            <a:pPr marL="0" indent="0">
              <a:buNone/>
            </a:pPr>
            <a:r>
              <a:rPr lang="en-US" sz="980" i="1" dirty="0">
                <a:solidFill>
                  <a:srgbClr val="F4B942"/>
                </a:solidFill>
                <a:latin typeface="Calibri" pitchFamily="34" charset="0"/>
                <a:ea typeface="Calibri" pitchFamily="34" charset="-122"/>
                <a:cs typeface="Calibri" pitchFamily="34" charset="-120"/>
              </a:rPr>
              <a:t>http://localhost:3000</a:t>
            </a:r>
            <a:endParaRPr lang="en-US" sz="980" dirty="0"/>
          </a:p>
        </p:txBody>
      </p:sp>
      <p:sp>
        <p:nvSpPr>
          <p:cNvPr id="29" name="Text 27"/>
          <p:cNvSpPr/>
          <p:nvPr/>
        </p:nvSpPr>
        <p:spPr>
          <a:xfrm>
            <a:off x="6355080" y="4160520"/>
            <a:ext cx="5120640" cy="274320"/>
          </a:xfrm>
          <a:prstGeom prst="rect">
            <a:avLst/>
          </a:prstGeom>
          <a:noFill/>
          <a:ln/>
        </p:spPr>
        <p:txBody>
          <a:bodyPr wrap="square" lIns="0" tIns="0" rIns="0" bIns="0" rtlCol="0" anchor="ctr"/>
          <a:lstStyle/>
          <a:p>
            <a:pPr marL="0" indent="0">
              <a:buNone/>
            </a:pPr>
            <a:r>
              <a:rPr lang="en-US" sz="1100" b="1" kern="0" spc="120" dirty="0">
                <a:solidFill>
                  <a:srgbClr val="F4B942"/>
                </a:solidFill>
                <a:latin typeface="Calibri" pitchFamily="34" charset="0"/>
                <a:ea typeface="Calibri" pitchFamily="34" charset="-122"/>
                <a:cs typeface="Calibri" pitchFamily="34" charset="-120"/>
              </a:rPr>
              <a:t>MÔI TRƯỜNG</a:t>
            </a:r>
            <a:endParaRPr lang="en-US" sz="1100" dirty="0"/>
          </a:p>
        </p:txBody>
      </p:sp>
      <p:sp>
        <p:nvSpPr>
          <p:cNvPr id="30" name="Text 28"/>
          <p:cNvSpPr/>
          <p:nvPr/>
        </p:nvSpPr>
        <p:spPr>
          <a:xfrm>
            <a:off x="6355080" y="4462272"/>
            <a:ext cx="5166360" cy="777240"/>
          </a:xfrm>
          <a:prstGeom prst="rect">
            <a:avLst/>
          </a:prstGeom>
          <a:noFill/>
          <a:ln/>
        </p:spPr>
        <p:txBody>
          <a:bodyPr wrap="square" lIns="0" tIns="0" rIns="0" bIns="0" rtlCol="0" anchor="ctr"/>
          <a:lstStyle/>
          <a:p>
            <a:pPr marL="0" indent="0">
              <a:lnSpc>
                <a:spcPct val="125000"/>
              </a:lnSpc>
              <a:buNone/>
            </a:pPr>
            <a:r>
              <a:rPr lang="en-US" sz="1030" dirty="0">
                <a:solidFill>
                  <a:srgbClr val="C4CDEE"/>
                </a:solidFill>
                <a:latin typeface="Calibri" pitchFamily="34" charset="0"/>
                <a:ea typeface="Calibri" pitchFamily="34" charset="-122"/>
                <a:cs typeface="Calibri" pitchFamily="34" charset="-120"/>
              </a:rPr>
              <a:t>Node.js ≥ 18.0.0  ·  PostgreSQL (Prisma ORM)  ·  Tài khoản Admin khởi tạo an toàn qua biến môi trường .env (mật khẩu băm bằng bcrypt)</a:t>
            </a:r>
            <a:endParaRPr lang="en-US" sz="1030" dirty="0"/>
          </a:p>
        </p:txBody>
      </p:sp>
      <p:sp>
        <p:nvSpPr>
          <p:cNvPr id="31" name="Shape 29"/>
          <p:cNvSpPr/>
          <p:nvPr/>
        </p:nvSpPr>
        <p:spPr>
          <a:xfrm>
            <a:off x="6355080" y="5349240"/>
            <a:ext cx="5166360" cy="685800"/>
          </a:xfrm>
          <a:prstGeom prst="rect">
            <a:avLst/>
          </a:prstGeom>
          <a:solidFill>
            <a:srgbClr val="FFFFFF">
              <a:alpha val="4000"/>
            </a:srgbClr>
          </a:solidFill>
          <a:ln/>
        </p:spPr>
      </p:sp>
      <p:sp>
        <p:nvSpPr>
          <p:cNvPr id="32" name="Text 30"/>
          <p:cNvSpPr/>
          <p:nvPr/>
        </p:nvSpPr>
        <p:spPr>
          <a:xfrm>
            <a:off x="6537960" y="5349240"/>
            <a:ext cx="4846320" cy="685800"/>
          </a:xfrm>
          <a:prstGeom prst="rect">
            <a:avLst/>
          </a:prstGeom>
          <a:noFill/>
          <a:ln/>
        </p:spPr>
        <p:txBody>
          <a:bodyPr wrap="square" lIns="0" tIns="0" rIns="0" bIns="0" rtlCol="0" anchor="ctr"/>
          <a:lstStyle/>
          <a:p>
            <a:pPr marL="0" indent="0">
              <a:buNone/>
            </a:pPr>
            <a:r>
              <a:rPr lang="en-US" sz="1000" i="1" dirty="0">
                <a:solidFill>
                  <a:srgbClr val="DCE3F7"/>
                </a:solidFill>
                <a:latin typeface="Calibri" pitchFamily="34" charset="0"/>
                <a:ea typeface="Calibri" pitchFamily="34" charset="-122"/>
                <a:cs typeface="Calibri" pitchFamily="34" charset="-120"/>
              </a:rPr>
              <a:t>Health check: GET /api/health — kiểm tra trạng thái server tức thời</a:t>
            </a:r>
            <a:endParaRPr lang="en-US" sz="1000" dirty="0"/>
          </a:p>
        </p:txBody>
      </p:sp>
      <p:sp>
        <p:nvSpPr>
          <p:cNvPr id="34" name="Text 32"/>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8C9BC9"/>
                </a:solidFill>
                <a:latin typeface="Calibri" pitchFamily="34" charset="0"/>
                <a:ea typeface="Calibri" pitchFamily="34" charset="-122"/>
                <a:cs typeface="Calibri" pitchFamily="34" charset="-120"/>
              </a:rPr>
              <a:t>12</a:t>
            </a:r>
            <a:endParaRPr lang="en-US" sz="900" dirty="0"/>
          </a:p>
        </p:txBody>
      </p:sp>
      <p:sp>
        <p:nvSpPr>
          <p:cNvPr id="36" name="Text 32">
            <a:extLst>
              <a:ext uri="{FF2B5EF4-FFF2-40B4-BE49-F238E27FC236}">
                <a16:creationId xmlns:a16="http://schemas.microsoft.com/office/drawing/2014/main" id="{3013B71C-1EC6-DCB8-6EAD-E02C52A5AB21}"/>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E2761">
              <a:alpha val="55000"/>
            </a:srgbClr>
          </a:solidFill>
          <a:ln/>
        </p:spPr>
      </p:sp>
      <p:sp>
        <p:nvSpPr>
          <p:cNvPr id="3" name="Shape 1"/>
          <p:cNvSpPr/>
          <p:nvPr/>
        </p:nvSpPr>
        <p:spPr>
          <a:xfrm>
            <a:off x="9875520" y="4389120"/>
            <a:ext cx="4114800" cy="4114800"/>
          </a:xfrm>
          <a:prstGeom prst="ellipse">
            <a:avLst/>
          </a:prstGeom>
          <a:solidFill>
            <a:srgbClr val="1E2761">
              <a:alpha val="55000"/>
            </a:srgbClr>
          </a:solidFill>
          <a:ln/>
        </p:spPr>
      </p:sp>
      <p:sp>
        <p:nvSpPr>
          <p:cNvPr id="4" name="Text 2"/>
          <p:cNvSpPr/>
          <p:nvPr/>
        </p:nvSpPr>
        <p:spPr>
          <a:xfrm>
            <a:off x="3048" y="2743200"/>
            <a:ext cx="12188952" cy="1005840"/>
          </a:xfrm>
          <a:prstGeom prst="rect">
            <a:avLst/>
          </a:prstGeom>
          <a:noFill/>
          <a:ln/>
        </p:spPr>
        <p:txBody>
          <a:bodyPr wrap="square" lIns="0" tIns="0" rIns="0" bIns="0"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THANK YOU FOR WATCHING</a:t>
            </a:r>
            <a:endParaRPr lang="en-US" sz="5000" dirty="0"/>
          </a:p>
        </p:txBody>
      </p:sp>
      <p:sp>
        <p:nvSpPr>
          <p:cNvPr id="14" name="Text 12"/>
          <p:cNvSpPr/>
          <p:nvPr/>
        </p:nvSpPr>
        <p:spPr>
          <a:xfrm>
            <a:off x="10972800" y="6510528"/>
            <a:ext cx="731520" cy="274320"/>
          </a:xfrm>
          <a:prstGeom prst="rect">
            <a:avLst/>
          </a:prstGeom>
          <a:noFill/>
          <a:ln/>
        </p:spPr>
        <p:txBody>
          <a:bodyPr wrap="square" lIns="0" tIns="0" rIns="0" bIns="0" rtlCol="0" anchor="ctr"/>
          <a:lstStyle/>
          <a:p>
            <a:pPr marL="0" indent="0" algn="r">
              <a:buNone/>
            </a:pPr>
            <a:r>
              <a:rPr lang="en-US" sz="900" dirty="0">
                <a:solidFill>
                  <a:srgbClr val="8C9BC9"/>
                </a:solidFill>
                <a:latin typeface="Calibri" pitchFamily="34" charset="0"/>
                <a:ea typeface="Calibri" pitchFamily="34" charset="-122"/>
                <a:cs typeface="Calibri" pitchFamily="34" charset="-120"/>
              </a:rPr>
              <a:t>13</a:t>
            </a:r>
            <a:endParaRPr lang="en-US" sz="900" dirty="0"/>
          </a:p>
        </p:txBody>
      </p:sp>
      <p:sp>
        <p:nvSpPr>
          <p:cNvPr id="18" name="Text 32">
            <a:extLst>
              <a:ext uri="{FF2B5EF4-FFF2-40B4-BE49-F238E27FC236}">
                <a16:creationId xmlns:a16="http://schemas.microsoft.com/office/drawing/2014/main" id="{D58FCE0B-F5DD-45E0-7826-DA55335339B6}"/>
              </a:ext>
            </a:extLst>
          </p:cNvPr>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A6580"/>
                </a:solidFill>
                <a:latin typeface="Calibri" pitchFamily="34" charset="0"/>
                <a:ea typeface="Calibri" pitchFamily="34" charset="-122"/>
                <a:cs typeface="Calibri" pitchFamily="34" charset="-120"/>
              </a:rPr>
              <a:t>VUNIS — Project Management System</a:t>
            </a:r>
            <a:endParaRPr lang="en-US" sz="900" dirty="0"/>
          </a:p>
        </p:txBody>
      </p:sp>
      <p:pic>
        <p:nvPicPr>
          <p:cNvPr id="900" name="NTT University Logo"/>
          <p:cNvPicPr>
            <a:picLocks noChangeAspect="1"/>
          </p:cNvPicPr>
          <p:nvPr/>
        </p:nvPicPr>
        <p:blipFill>
          <a:blip r:embed="rId3"/>
          <a:stretch>
            <a:fillRect/>
          </a:stretch>
        </p:blipFill>
        <p:spPr>
          <a:xfrm>
            <a:off x="11460480" y="182880"/>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1979</Words>
  <Application>Microsoft Office PowerPoint</Application>
  <PresentationFormat>Widescreen</PresentationFormat>
  <Paragraphs>274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Huynh Len</cp:lastModifiedBy>
  <cp:revision>3</cp:revision>
  <dcterms:created xsi:type="dcterms:W3CDTF">2026-08-21T16:24:40Z</dcterms:created>
  <dcterms:modified xsi:type="dcterms:W3CDTF">2026-09-05T12:46:51Z</dcterms:modified>
</cp:coreProperties>
</file>