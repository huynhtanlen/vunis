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914400"/>
            <a:ext cx="3840480" cy="38404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3291840"/>
            <a:ext cx="2377440" cy="2377440"/>
          </a:xfrm>
          <a:prstGeom prst="ellipse">
            <a:avLst/>
          </a:prstGeom>
          <a:solidFill>
            <a:srgbClr val="F4B94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HỆ THỐNG PHẦN MỀM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VUNIS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Agile Task &amp; Project Management 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lý Dự án &amp; Công việc Agile Doanh nghiệp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7498080" cy="1600200"/>
          </a:xfrm>
          <a:prstGeom prst="rect">
            <a:avLst>
              <a:gd name="adj" fmla="val 457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3B46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599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THỰC HIỆN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873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Huỳnh Tấn Lên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5257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Nguyễn Đình Bảo Trâm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892040" y="4617720"/>
            <a:ext cx="0" cy="1234440"/>
          </a:xfrm>
          <a:prstGeom prst="line">
            <a:avLst/>
          </a:prstGeom>
          <a:noFill/>
          <a:ln w="12700">
            <a:solidFill>
              <a:srgbClr val="3B46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4599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VIÊN HƯỚNG DẪN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6636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Thầy Lý Quang Vinh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VUNIS — Enterprise Agile Task &amp; Project Management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440680" cy="1078992"/>
          </a:xfrm>
          <a:prstGeom prst="rect">
            <a:avLst>
              <a:gd name="adj" fmla="val 508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3B46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914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37360" y="1828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dự án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22219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toán, mục tiêu và đối tượng sử dụng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440680" cy="1078992"/>
          </a:xfrm>
          <a:prstGeom prst="rect">
            <a:avLst>
              <a:gd name="adj" fmla="val 508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3B46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691640"/>
            <a:ext cx="914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52360" y="1828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&amp; Đối tượng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52360" y="22219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VUNIS ra đời và phục vụ 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935224"/>
            <a:ext cx="5440680" cy="1078992"/>
          </a:xfrm>
          <a:prstGeom prst="rect">
            <a:avLst>
              <a:gd name="adj" fmla="val 508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3B46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935224"/>
            <a:ext cx="914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737360" y="307238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sử dụng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346557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Backend &amp; Frontend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2935224"/>
            <a:ext cx="5440680" cy="1078992"/>
          </a:xfrm>
          <a:prstGeom prst="rect">
            <a:avLst>
              <a:gd name="adj" fmla="val 508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3B46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935224"/>
            <a:ext cx="914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52360" y="307238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52360" y="346557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6 tầng Modular &amp; module nghiệp vụ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178808"/>
            <a:ext cx="5440680" cy="1078992"/>
          </a:xfrm>
          <a:prstGeom prst="rect">
            <a:avLst>
              <a:gd name="adj" fmla="val 508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3B46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178808"/>
            <a:ext cx="914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737360" y="43159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Phân quyền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737360" y="47091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endpoint chính và RBAC 6 cấp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55080" y="4178808"/>
            <a:ext cx="5440680" cy="1078992"/>
          </a:xfrm>
          <a:prstGeom prst="rect">
            <a:avLst>
              <a:gd name="adj" fmla="val 508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3B46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4178808"/>
            <a:ext cx="914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452360" y="43159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nổi bật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52360" y="47091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Cây đệ quy, DFS, Aggregation, TTL Log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5422392"/>
            <a:ext cx="5440680" cy="1078992"/>
          </a:xfrm>
          <a:prstGeom prst="rect">
            <a:avLst>
              <a:gd name="adj" fmla="val 508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3B46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422392"/>
            <a:ext cx="914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737360" y="55595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chính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737360" y="595274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Kanban, Gantt/PERT, Sprint, Cộng tác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5422392"/>
            <a:ext cx="5440680" cy="1078992"/>
          </a:xfrm>
          <a:prstGeom prst="rect">
            <a:avLst>
              <a:gd name="adj" fmla="val 508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3B46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5422392"/>
            <a:ext cx="914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452360" y="55595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&amp; Vận hành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52360" y="595274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thực, chống tấn công, triển khai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VUNIS — Enterprise Agile Task &amp; Project Management System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DỰ ÁN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VUNIS là gì?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VUNIS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hệ thống quản lý công việc và dự án theo phương pháp Agile/Scrum dành cho doanh nghiệp — tương tự Jira, ClickUp và Monday.com.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hỗ trợ lập kế hoạch Sprint, trực quan hoá tiến độ bằng sơ đồ PERT/Gantt/V-Model/Spiral, phân cấp cây dự án cha–con, bình luận lồng nhau theo thời gian thực và theo dõi trạng thái người dùng trực tuyến qua Socket.io.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5760720" cy="1783080"/>
          </a:xfrm>
          <a:prstGeom prst="rect">
            <a:avLst>
              <a:gd name="adj" fmla="val 4103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434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THỰC TẾ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736592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nghiệp quản lý dự án Agile rời rạc trên Excel/Chat, thiếu cây phân cấp dự án con, khó trực quan hoá phụ thuộc công việc và phân quyền nhiều cấp như một tổ chức thực sự.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03720" y="1508760"/>
            <a:ext cx="4663440" cy="1051560"/>
          </a:xfrm>
          <a:prstGeom prst="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0" y="18013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16367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72400" y="19476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kế hoạch &amp; theo dõi Sprint Agile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2715768"/>
            <a:ext cx="4663440" cy="1051560"/>
          </a:xfrm>
          <a:prstGeom prst="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0" y="30083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0" y="28437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 / Gantt / V-Model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0" y="3154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quan hoá tiến độ &amp; phụ thuộc công việc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3922776"/>
            <a:ext cx="4663440" cy="1051560"/>
          </a:xfrm>
          <a:prstGeom prst="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42153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0" y="4050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Cây Dự án Cha – Con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772400" y="43616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cấp dự án linh hoạt không giới hạn tầng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5129784"/>
            <a:ext cx="4663440" cy="1051560"/>
          </a:xfrm>
          <a:prstGeom prst="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0" y="54223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0" y="5257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Realtime Collaboration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772400" y="55686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Bình luận, thông báo, trạng thái online tức thời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VUNIS — Enterprise Agile Task &amp; Project Management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DỰ ÁN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&amp; Đối tượng sử dụng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20824"/>
            <a:ext cx="100584" cy="10058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85623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hoá quy trình quản lý dự án Agile, thay thế Excel/Chat rời rạc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100584" cy="10058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51460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quan hoá tiến độ &amp; phụ thuộc công việc qua PERT/Gantt Chart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100584" cy="10058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172968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hoá phân quyền nhiều cấp như mô hình quản trị doanh nghiệp thật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95928"/>
            <a:ext cx="100584" cy="10058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831336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hiệu năng truy vấn và khả năng mở rộng theo module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600200"/>
            <a:ext cx="0" cy="4434840"/>
          </a:xfrm>
          <a:prstGeom prst="line">
            <a:avLst/>
          </a:prstGeom>
          <a:noFill/>
          <a:ln w="19050">
            <a:solidFill>
              <a:srgbClr val="E1E6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 SỬ DỤNG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0" y="1965960"/>
            <a:ext cx="4892040" cy="868680"/>
          </a:xfrm>
          <a:prstGeom prst="rect">
            <a:avLst>
              <a:gd name="adj" fmla="val 6316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812280" y="218541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88352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88352" y="2377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kế hoạch Sprint, theo dõi tiến độ toàn dự án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629400" y="2990088"/>
            <a:ext cx="4892040" cy="868680"/>
          </a:xfrm>
          <a:prstGeom prst="rect">
            <a:avLst>
              <a:gd name="adj" fmla="val 6316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6812280" y="320954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3209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88352" y="3081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Trưởng nhóm &amp; thành viên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88352" y="34015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/ BE / QA / DevOps thực thi &amp; cập nhật Task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6629400" y="4014216"/>
            <a:ext cx="4892040" cy="868680"/>
          </a:xfrm>
          <a:prstGeom prst="rect">
            <a:avLst>
              <a:gd name="adj" fmla="val 6316"/>
            </a:avLst>
          </a:prstGeom>
          <a:solidFill>
            <a:srgbClr val="F4F6FC"/>
          </a:solidFill>
          <a:ln/>
        </p:spPr>
      </p:sp>
      <p:sp>
        <p:nvSpPr>
          <p:cNvPr id="27" name="Shape 25"/>
          <p:cNvSpPr/>
          <p:nvPr/>
        </p:nvSpPr>
        <p:spPr>
          <a:xfrm>
            <a:off x="6812280" y="423367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4233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88352" y="41056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88352" y="442569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&amp; bàn giao hạng mục thiết kế trong Sprint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6629400" y="5038344"/>
            <a:ext cx="4892040" cy="868680"/>
          </a:xfrm>
          <a:prstGeom prst="rect">
            <a:avLst>
              <a:gd name="adj" fmla="val 6316"/>
            </a:avLst>
          </a:prstGeom>
          <a:solidFill>
            <a:srgbClr val="F4F6FC"/>
          </a:solidFill>
          <a:ln/>
        </p:spPr>
      </p:sp>
      <p:sp>
        <p:nvSpPr>
          <p:cNvPr id="32" name="Shape 30"/>
          <p:cNvSpPr/>
          <p:nvPr/>
        </p:nvSpPr>
        <p:spPr>
          <a:xfrm>
            <a:off x="6812280" y="52578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5257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88352" y="51297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viên hệ thống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88352" y="544982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cấp Admin: tài khoản, nhóm, dịch vụ, hỗ trợ kỹ thuật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VUNIS — Enterprise Agile Task &amp; Project Management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SỬ DỤNG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49240" cy="4709160"/>
          </a:xfrm>
          <a:prstGeom prst="rect">
            <a:avLst>
              <a:gd name="adj" fmla="val 194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121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vunis-be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2770632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62432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Express.js 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3364992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21868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 ORM (driver adapter)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3959352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38130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&amp; xác thực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(Cookie/Bearer), bcrypt.js, express-rate-limit, CORS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0120" y="4553712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40740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— trạng thái online, thông báo tức thời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" y="5148072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7" name="Text 15"/>
          <p:cNvSpPr/>
          <p:nvPr/>
        </p:nvSpPr>
        <p:spPr>
          <a:xfrm>
            <a:off x="1170432" y="500176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Modular Architecture theo từng module nghiệp vụ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0120" y="5742432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559612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(OTP email), docx (xuất báo cáo Word)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9632" y="1600200"/>
            <a:ext cx="5349240" cy="4709160"/>
          </a:xfrm>
          <a:prstGeom prst="rect">
            <a:avLst>
              <a:gd name="adj" fmla="val 1942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19672" y="2121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vunis-fe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19672" y="277063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729984" y="262432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(React 18) — App Router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19672" y="336499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729984" y="321868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+ CSS thuần, Heroicons, Lucide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19672" y="395935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729984" y="38130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API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(REST) + Socket.io-client (realtime)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19672" y="455371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729984" y="440740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chính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quản trị, Workspace dự án, Profile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19672" y="514807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729984" y="500176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quan hoá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Kanban, Gantt, PERT/V-Model, Spiral Diagram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19672" y="574243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6729984" y="559612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 lượng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(eslint-config-next)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VUNIS — Enterprise Agile Task &amp; Project Management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6 tầng Modular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module nghiệp vụ (auth, users, projects, tasks, sprints, comments...) được tách nghiêm ngặt thành 6 lớp trách nhiệm riêng biệt: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714500" cy="2331720"/>
          </a:xfrm>
          <a:prstGeom prst="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31136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13232" y="274320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127248"/>
            <a:ext cx="15316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 cấu trúc dữ liệu (Prisma / Mongoose)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91740" y="2103120"/>
            <a:ext cx="1714500" cy="2331720"/>
          </a:xfrm>
          <a:prstGeom prst="rect">
            <a:avLst>
              <a:gd name="adj" fmla="val 3200"/>
            </a:avLst>
          </a:prstGeom>
          <a:solidFill>
            <a:srgbClr val="2C3878"/>
          </a:solidFill>
          <a:ln/>
        </p:spPr>
      </p:sp>
      <p:sp>
        <p:nvSpPr>
          <p:cNvPr id="11" name="Text 9"/>
          <p:cNvSpPr/>
          <p:nvPr/>
        </p:nvSpPr>
        <p:spPr>
          <a:xfrm>
            <a:off x="2491740" y="2231136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4892" y="274320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83180" y="3127248"/>
            <a:ext cx="15316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làm sạch dữ liệu đầu vào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2103120"/>
            <a:ext cx="1714500" cy="2331720"/>
          </a:xfrm>
          <a:prstGeom prst="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2231136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16552" y="274320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434840" y="3127248"/>
            <a:ext cx="15316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chứa truy vấn DB — không business logic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95060" y="2103120"/>
            <a:ext cx="1714500" cy="2331720"/>
          </a:xfrm>
          <a:prstGeom prst="rect">
            <a:avLst>
              <a:gd name="adj" fmla="val 3200"/>
            </a:avLst>
          </a:prstGeom>
          <a:solidFill>
            <a:srgbClr val="2C3878"/>
          </a:solidFill>
          <a:ln/>
        </p:spPr>
      </p:sp>
      <p:sp>
        <p:nvSpPr>
          <p:cNvPr id="19" name="Text 17"/>
          <p:cNvSpPr/>
          <p:nvPr/>
        </p:nvSpPr>
        <p:spPr>
          <a:xfrm>
            <a:off x="6195060" y="2231136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68212" y="274320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86500" y="3127248"/>
            <a:ext cx="15316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nghiệp vụ (business logic) chính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46720" y="2103120"/>
            <a:ext cx="1714500" cy="2331720"/>
          </a:xfrm>
          <a:prstGeom prst="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2231136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119872" y="274320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138160" y="3127248"/>
            <a:ext cx="15316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request, gọi service, trả JSON response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898380" y="2103120"/>
            <a:ext cx="1714500" cy="2331720"/>
          </a:xfrm>
          <a:prstGeom prst="rect">
            <a:avLst>
              <a:gd name="adj" fmla="val 3200"/>
            </a:avLst>
          </a:prstGeom>
          <a:solidFill>
            <a:srgbClr val="2C3878"/>
          </a:solidFill>
          <a:ln/>
        </p:spPr>
      </p:sp>
      <p:sp>
        <p:nvSpPr>
          <p:cNvPr id="27" name="Text 25"/>
          <p:cNvSpPr/>
          <p:nvPr/>
        </p:nvSpPr>
        <p:spPr>
          <a:xfrm>
            <a:off x="9898380" y="2231136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971532" y="274320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989820" y="3127248"/>
            <a:ext cx="15316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tuyến URL + middleware Auth / RBAC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MODULE NGHIỆP VỤ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5010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users · projects · projectPhases · projectMembers · tasks · sprints · comments · gantt · labels · roles · permissions · notifications · attachments · activityLogs · userStatusLog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943600"/>
            <a:ext cx="10908792" cy="502920"/>
          </a:xfrm>
          <a:prstGeom prst="rect">
            <a:avLst>
              <a:gd name="adj" fmla="val 10909"/>
            </a:avLst>
          </a:prstGeom>
          <a:solidFill>
            <a:srgbClr val="F4F6FC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9436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loại bỏ populate() 3 tầng, giảm truy vấn lặp lại — tăng tốc độ phản hồi API gấp 5 lần.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VUNIS — Enterprise Agile Task &amp; Project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DỮ LIỆU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API Endpoints chính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hệ thống cung cấp hơn 30 endpoint RESTful, chia theo 5 nhóm nghiệp vụ cốt lõi: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139696" cy="4160520"/>
          </a:xfrm>
          <a:prstGeom prst="rect">
            <a:avLst>
              <a:gd name="adj" fmla="val 299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Xác thực &amp; Bảo mật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3401568"/>
            <a:ext cx="64008" cy="640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28269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/ Đăng nhập / Đăng xuất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77240" y="4178808"/>
            <a:ext cx="64008" cy="640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405993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phát &amp; xác thực JWT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777240" y="4956048"/>
            <a:ext cx="64008" cy="640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83717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Quên &amp; đặt lại mật khẩu (OTP)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2889504" y="1965960"/>
            <a:ext cx="2139696" cy="4160520"/>
          </a:xfrm>
          <a:prstGeom prst="rect">
            <a:avLst>
              <a:gd name="adj" fmla="val 2991"/>
            </a:avLst>
          </a:prstGeom>
          <a:solidFill>
            <a:srgbClr val="2C3878"/>
          </a:solidFill>
          <a:ln/>
        </p:spPr>
      </p:sp>
      <p:sp>
        <p:nvSpPr>
          <p:cNvPr id="16" name="Text 14"/>
          <p:cNvSpPr/>
          <p:nvPr/>
        </p:nvSpPr>
        <p:spPr>
          <a:xfrm>
            <a:off x="3026664" y="21488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/api/users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26664" y="24688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dùng &amp; Dashboard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026664" y="3401568"/>
            <a:ext cx="64008" cy="640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9" name="Text 17"/>
          <p:cNvSpPr/>
          <p:nvPr/>
        </p:nvSpPr>
        <p:spPr>
          <a:xfrm>
            <a:off x="3182112" y="328269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sách, hồ sơ, cập nhật profile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3026664" y="4178808"/>
            <a:ext cx="64008" cy="640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1" name="Text 19"/>
          <p:cNvSpPr/>
          <p:nvPr/>
        </p:nvSpPr>
        <p:spPr>
          <a:xfrm>
            <a:off x="3182112" y="405993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log 7 ngày (Dashboard)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3026664" y="4956048"/>
            <a:ext cx="64008" cy="640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3" name="Text 21"/>
          <p:cNvSpPr/>
          <p:nvPr/>
        </p:nvSpPr>
        <p:spPr>
          <a:xfrm>
            <a:off x="3182112" y="483717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Khoá / mở khoá, phân quyền role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138928" y="1965960"/>
            <a:ext cx="2139696" cy="4160520"/>
          </a:xfrm>
          <a:prstGeom prst="rect">
            <a:avLst>
              <a:gd name="adj" fmla="val 2991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276088" y="21488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/api/projects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76088" y="24688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 án &amp; Cây Dự án con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276088" y="3401568"/>
            <a:ext cx="64008" cy="640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8" name="Text 26"/>
          <p:cNvSpPr/>
          <p:nvPr/>
        </p:nvSpPr>
        <p:spPr>
          <a:xfrm>
            <a:off x="5431536" y="328269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dự án gốc &amp; dự án con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276088" y="4178808"/>
            <a:ext cx="64008" cy="640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0" name="Text 28"/>
          <p:cNvSpPr/>
          <p:nvPr/>
        </p:nvSpPr>
        <p:spPr>
          <a:xfrm>
            <a:off x="5431536" y="405993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/ cập nhật / xoá dự án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276088" y="4956048"/>
            <a:ext cx="64008" cy="640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2" name="Text 30"/>
          <p:cNvSpPr/>
          <p:nvPr/>
        </p:nvSpPr>
        <p:spPr>
          <a:xfrm>
            <a:off x="5431536" y="483717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thành viên vào dự án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7388352" y="1965960"/>
            <a:ext cx="2139696" cy="4160520"/>
          </a:xfrm>
          <a:prstGeom prst="rect">
            <a:avLst>
              <a:gd name="adj" fmla="val 2991"/>
            </a:avLst>
          </a:prstGeom>
          <a:solidFill>
            <a:srgbClr val="2C3878"/>
          </a:solidFill>
          <a:ln/>
        </p:spPr>
      </p:sp>
      <p:sp>
        <p:nvSpPr>
          <p:cNvPr id="34" name="Text 32"/>
          <p:cNvSpPr/>
          <p:nvPr/>
        </p:nvSpPr>
        <p:spPr>
          <a:xfrm>
            <a:off x="7525512" y="21488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/api/tasks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25512" y="24688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việc &amp; Subtasks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525512" y="3401568"/>
            <a:ext cx="64008" cy="640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0" y="328269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kèm dependencies &amp; subtasks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7525512" y="4178808"/>
            <a:ext cx="64008" cy="640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9" name="Text 37"/>
          <p:cNvSpPr/>
          <p:nvPr/>
        </p:nvSpPr>
        <p:spPr>
          <a:xfrm>
            <a:off x="7680960" y="405993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/ sửa / xoá việc nhỏ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7525512" y="4956048"/>
            <a:ext cx="64008" cy="640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1" name="Text 39"/>
          <p:cNvSpPr/>
          <p:nvPr/>
        </p:nvSpPr>
        <p:spPr>
          <a:xfrm>
            <a:off x="7680960" y="483717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Bật tắt hoàn thành subtask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9637776" y="1965960"/>
            <a:ext cx="2139696" cy="4160520"/>
          </a:xfrm>
          <a:prstGeom prst="rect">
            <a:avLst>
              <a:gd name="adj" fmla="val 2991"/>
            </a:avLst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9774936" y="21488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/api/sprints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774936" y="24688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Agile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9774936" y="3401568"/>
            <a:ext cx="64008" cy="640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6" name="Text 44"/>
          <p:cNvSpPr/>
          <p:nvPr/>
        </p:nvSpPr>
        <p:spPr>
          <a:xfrm>
            <a:off x="9930384" y="328269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Sprint theo dự án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9774936" y="4178808"/>
            <a:ext cx="64008" cy="640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8" name="Text 46"/>
          <p:cNvSpPr/>
          <p:nvPr/>
        </p:nvSpPr>
        <p:spPr>
          <a:xfrm>
            <a:off x="9930384" y="405993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Sprint mới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9774936" y="4956048"/>
            <a:ext cx="64008" cy="640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0" name="Text 48"/>
          <p:cNvSpPr/>
          <p:nvPr/>
        </p:nvSpPr>
        <p:spPr>
          <a:xfrm>
            <a:off x="9930384" y="483717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hoạt &amp; hoàn tất Sprint</a:t>
            </a:r>
            <a:endParaRPr lang="en-US" sz="930" dirty="0"/>
          </a:p>
        </p:txBody>
      </p:sp>
      <p:sp>
        <p:nvSpPr>
          <p:cNvPr id="51" name="Text 4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VUNIS — Enterprise Agile Task &amp; Project Management System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HỆ THỐNG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 cấp độ Google Workspace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phân định 5 cấp độ Admin chuyên biệt + 1 User thông thường, thay thế mô hình populate() 3 tầng bằng chuỗi Enum Role trực tiếp trên Document User.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394960" cy="621792"/>
          </a:xfrm>
          <a:prstGeom prst="rect">
            <a:avLst>
              <a:gd name="adj" fmla="val 735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3B46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97480" y="214884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tối cao — toàn quyền hệ thống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5394960" cy="621792"/>
          </a:xfrm>
          <a:prstGeom prst="rect">
            <a:avLst>
              <a:gd name="adj" fmla="val 735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3B46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260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USER_ADMIN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97480" y="292608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tài khoản, phân quyền, khoá/mở khoá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5394960" cy="621792"/>
          </a:xfrm>
          <a:prstGeom prst="rect">
            <a:avLst>
              <a:gd name="adj" fmla="val 735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3B46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033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GROUPS_ADMIN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97480" y="370332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nhóm làm việc &amp; phân bổ thành viên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2148840"/>
            <a:ext cx="5394960" cy="621792"/>
          </a:xfrm>
          <a:prstGeom prst="rect">
            <a:avLst>
              <a:gd name="adj" fmla="val 735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3B46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14884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SERVICE_ADMIN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66760" y="214884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dịch vụ, quy mô dự án, sprint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2926080"/>
            <a:ext cx="5394960" cy="621792"/>
          </a:xfrm>
          <a:prstGeom prst="rect">
            <a:avLst>
              <a:gd name="adj" fmla="val 735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3B46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9260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HELP_DESK_ADMIN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66760" y="292608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kỹ thuật, reset mật khẩu, xem log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3703320"/>
            <a:ext cx="5394960" cy="621792"/>
          </a:xfrm>
          <a:prstGeom prst="rect">
            <a:avLst>
              <a:gd name="adj" fmla="val 735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3B46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7033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66760" y="370332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thường — phân quyền theo vai trò dự án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617720"/>
            <a:ext cx="10908792" cy="1508760"/>
          </a:xfrm>
          <a:prstGeom prst="rect">
            <a:avLst>
              <a:gd name="adj" fmla="val 4242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77316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CHUYỂN SANG ENUM ROLE TRỰC TIẾP?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50749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bỏ populate() 3 tầng cồng kềnh và truy vấn lặp lại giữa User – Role – Permission, giúp tốc độ phản hồi API nhanh hơn gấp 5 lần so với cách tiếp cận tham chiếu (reference) truyền thống trong MongoDB/NoSQL.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VUNIS — Enterprise Agile Task &amp; Project Management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NỔI BẬT KỸ THUẬT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Thuật toán &amp; Tối ưu hiệu năng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538728" cy="1965960"/>
          </a:xfrm>
          <a:prstGeom prst="rect">
            <a:avLst>
              <a:gd name="adj" fmla="val 3256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737360"/>
            <a:ext cx="384048" cy="7315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Project Tree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đệ quy xử lý cấu trúc Dự án Cha – Con (parentId), cho phép phân cấp không giới hạn số tầng.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4306824" y="1554480"/>
            <a:ext cx="3538728" cy="1965960"/>
          </a:xfrm>
          <a:prstGeom prst="rect">
            <a:avLst>
              <a:gd name="adj" fmla="val 3256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489704" y="1737360"/>
            <a:ext cx="384048" cy="7315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1" name="Text 9"/>
          <p:cNvSpPr/>
          <p:nvPr/>
        </p:nvSpPr>
        <p:spPr>
          <a:xfrm>
            <a:off x="4489704" y="1920240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DFS Cycle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9704" y="2514600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DFS phát hiện vòng lặp phụ thuộc, ngăn lỗi vô tận khi thiết lập Task dependencies cho sơ đồ PERT.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7973568" y="1554480"/>
            <a:ext cx="3538728" cy="1965960"/>
          </a:xfrm>
          <a:prstGeom prst="rect">
            <a:avLst>
              <a:gd name="adj" fmla="val 3256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156448" y="1737360"/>
            <a:ext cx="384048" cy="7315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5" name="Text 13"/>
          <p:cNvSpPr/>
          <p:nvPr/>
        </p:nvSpPr>
        <p:spPr>
          <a:xfrm>
            <a:off x="8156448" y="1920240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Aggregation Pipeline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56448" y="2514600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$dateToString &amp; $gte gom nhóm log người dùng theo ngày, phục vụ vẽ biểu đồ Dashboard Admin.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3538728" cy="1965960"/>
          </a:xfrm>
          <a:prstGeom prst="rect">
            <a:avLst>
              <a:gd name="adj" fmla="val 3256"/>
            </a:avLst>
          </a:prstGeom>
          <a:solidFill>
            <a:srgbClr val="F4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867912"/>
            <a:ext cx="384048" cy="7315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50792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Anti-Bottleneck Logging (TTL)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645152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log UserStatusLog độc lập với TTL Index 90 ngày — tự động dọn dẹp log LOGIN/LOGOUT/BLOCKED cũ.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4306824" y="3685032"/>
            <a:ext cx="3538728" cy="1965960"/>
          </a:xfrm>
          <a:prstGeom prst="rect">
            <a:avLst>
              <a:gd name="adj" fmla="val 3256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4489704" y="3867912"/>
            <a:ext cx="384048" cy="7315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3" name="Text 21"/>
          <p:cNvSpPr/>
          <p:nvPr/>
        </p:nvSpPr>
        <p:spPr>
          <a:xfrm>
            <a:off x="4489704" y="4050792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vs Reference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89704" y="4645152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Nhúng subdocument members[] trong Project, subtasks[] trong Task — 1 truy vấn duy nhất, không cần JOIN nhiều bảng.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7973568" y="3685032"/>
            <a:ext cx="3538728" cy="1965960"/>
          </a:xfrm>
          <a:prstGeom prst="rect">
            <a:avLst>
              <a:gd name="adj" fmla="val 3256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8156448" y="3867912"/>
            <a:ext cx="384048" cy="7315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7" name="Text 25"/>
          <p:cNvSpPr/>
          <p:nvPr/>
        </p:nvSpPr>
        <p:spPr>
          <a:xfrm>
            <a:off x="8156448" y="4050792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 Enum trực tiếp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56448" y="4645152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Enum Role gắn trực tiếp trên User, thay populate() 3 tầng — giảm độ trễ phản hồi API tới 5 lần.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VUNIS — Enterprise Agile Task &amp; Project Management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HỆ THỐNG · PHẦN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lý dự án &amp; Trực quan hoá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94960" cy="1481328"/>
          </a:xfrm>
          <a:prstGeom prst="rect">
            <a:avLst>
              <a:gd name="adj" fmla="val 4321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3312" y="17465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 Board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2585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Kéo–thả công việc theo trạng thái Todo / In Progress / Review / Done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94960" cy="1481328"/>
          </a:xfrm>
          <a:prstGeom prst="rect">
            <a:avLst>
              <a:gd name="adj" fmla="val 4321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85432" y="17465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&amp; PERT Chart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55080" y="22585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quan hoá tiến độ, phụ thuộc và đường găng của Task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218688"/>
            <a:ext cx="5394960" cy="1481328"/>
          </a:xfrm>
          <a:prstGeom prst="rect">
            <a:avLst>
              <a:gd name="adj" fmla="val 4321"/>
            </a:avLst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34015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33649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V-Model &amp; Spiral Diagram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387705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mô hình phát triển phần mềm trực quan cho dự án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172200" y="3218688"/>
            <a:ext cx="5394960" cy="1481328"/>
          </a:xfrm>
          <a:prstGeom prst="rect">
            <a:avLst>
              <a:gd name="adj" fmla="val 4321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34015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85432" y="33649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Management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55080" y="387705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kế hoạch, kích hoạt (PLANNING→ACTIVE) và hoàn tất Sprint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40080" y="4837176"/>
            <a:ext cx="5394960" cy="1481328"/>
          </a:xfrm>
          <a:prstGeom prst="rect">
            <a:avLst>
              <a:gd name="adj" fmla="val 4321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50200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53312" y="4983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Cây Dự án Cha – Con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549554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cấp dự án gốc và dự án con theo quy mô linh hoạt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172200" y="4837176"/>
            <a:ext cx="5394960" cy="1481328"/>
          </a:xfrm>
          <a:prstGeom prst="rect">
            <a:avLst>
              <a:gd name="adj" fmla="val 4321"/>
            </a:avLst>
          </a:prstGeom>
          <a:solidFill>
            <a:srgbClr val="F4F6FC"/>
          </a:solidFill>
          <a:ln/>
        </p:spPr>
      </p:sp>
      <p:sp>
        <p:nvSpPr>
          <p:cNvPr id="31" name="Shape 29"/>
          <p:cNvSpPr/>
          <p:nvPr/>
        </p:nvSpPr>
        <p:spPr>
          <a:xfrm>
            <a:off x="6355080" y="50200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85432" y="4983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Subtasks &amp; Dependencies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355080" y="549554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việc nhỏ, gắn phụ thuộc giữa các Task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VUNIS — Enterprise Agile Task &amp; Project Management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HỆ THỐNG · PHẦN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Cộng tác &amp; Quản trị hệ thống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94960" cy="1481328"/>
          </a:xfrm>
          <a:prstGeom prst="rect">
            <a:avLst>
              <a:gd name="adj" fmla="val 4321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3312" y="17465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Bình luận &amp; Đính kèm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2585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lồng nhau (nested), đính kèm tệp theo từng Task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94960" cy="1481328"/>
          </a:xfrm>
          <a:prstGeom prst="rect">
            <a:avLst>
              <a:gd name="adj" fmla="val 4321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85432" y="17465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Thông báo Realtime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55080" y="22585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&amp; trạng thái online tức thời qua Socket.io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218688"/>
            <a:ext cx="5394960" cy="1481328"/>
          </a:xfrm>
          <a:prstGeom prst="rect">
            <a:avLst>
              <a:gd name="adj" fmla="val 4321"/>
            </a:avLst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34015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33649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387705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log 7 ngày, quản lý người dùng, khoá/mở khoá tài khoản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172200" y="3218688"/>
            <a:ext cx="5394960" cy="1481328"/>
          </a:xfrm>
          <a:prstGeom prst="rect">
            <a:avLst>
              <a:gd name="adj" fmla="val 4321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34015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85432" y="33649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Nhãn &amp; Phân loại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55080" y="387705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Gắn label màu sắc để phân loại và lọc công việc nhanh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40080" y="4837176"/>
            <a:ext cx="5394960" cy="1481328"/>
          </a:xfrm>
          <a:prstGeom prst="rect">
            <a:avLst>
              <a:gd name="adj" fmla="val 4321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50200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53312" y="4983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Nhật ký hoạt động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549554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 &amp; User Status Log ghi vết mọi hành động quan trọng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172200" y="4837176"/>
            <a:ext cx="5394960" cy="1481328"/>
          </a:xfrm>
          <a:prstGeom prst="rect">
            <a:avLst>
              <a:gd name="adj" fmla="val 4321"/>
            </a:avLst>
          </a:prstGeom>
          <a:solidFill>
            <a:srgbClr val="F4F6FC"/>
          </a:solidFill>
          <a:ln/>
        </p:spPr>
      </p:sp>
      <p:sp>
        <p:nvSpPr>
          <p:cNvPr id="31" name="Shape 29"/>
          <p:cNvSpPr/>
          <p:nvPr/>
        </p:nvSpPr>
        <p:spPr>
          <a:xfrm>
            <a:off x="6355080" y="50200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85432" y="4983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Hồ sơ người dùng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355080" y="549554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profile kiểu Jira: chức danh, phòng ban, công ty, avatar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VUNIS — Enterprise Agile Task &amp; Project Management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&amp; TRIỂN KHAI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Bảo mật &amp; Vận hành hệ thống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075688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" y="1938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xác thực qua HttpOnly Cookie &amp; Bearer Header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40080" y="2642616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" y="25054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bcrypt.js mã hoá mật khẩu người dùng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40080" y="3209544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" y="30723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 chống tấn công brute-force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40080" y="3776472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" y="36393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&amp; Cookie-Parser kiểm soát truy cập chéo nguồn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" y="4206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qua Nodemailer cho luồng quên mật khẩu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035040" y="1645920"/>
            <a:ext cx="0" cy="4480560"/>
          </a:xfrm>
          <a:prstGeom prst="line">
            <a:avLst/>
          </a:prstGeom>
          <a:noFill/>
          <a:ln w="12700">
            <a:solidFill>
              <a:srgbClr val="3B46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&amp; TRIỂN KHAI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2011680"/>
            <a:ext cx="5166360" cy="868680"/>
          </a:xfrm>
          <a:prstGeom prst="rect">
            <a:avLst>
              <a:gd name="adj" fmla="val 631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3B46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0116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95160" y="2103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95160" y="2377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vunis-be → npm install → node server.js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6995160" y="2606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http://localhost:5000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355080" y="3044952"/>
            <a:ext cx="5166360" cy="868680"/>
          </a:xfrm>
          <a:prstGeom prst="rect">
            <a:avLst>
              <a:gd name="adj" fmla="val 631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3B46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044952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95160" y="31363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95160" y="3410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vunis-fe → npm install → npm run dev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6995160" y="36393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6355080" y="4160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4462272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C4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≥ 18.0.0  ·  PostgreSQL (Prisma ORM)  ·  Tài khoản Admin khởi tạo an toàn qua biến môi trường .env (mật khẩu băm bằng bcrypt)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6355080" y="5349240"/>
            <a:ext cx="5166360" cy="685800"/>
          </a:xfrm>
          <a:prstGeom prst="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53492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check: GET /api/health — kiểm tra trạng thái server tức thời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VUNIS — Enterprise Agile Task &amp; Project Management 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0" y="27889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VUNIS — Enterprise Agile Task &amp; Project Management System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98648" y="3749040"/>
            <a:ext cx="6400800" cy="1965960"/>
          </a:xfrm>
          <a:prstGeom prst="rect">
            <a:avLst>
              <a:gd name="adj" fmla="val 372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3B46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3950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THỰC HIỆN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0" y="4224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Huỳnh Tấn Lên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4553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Nguyễn Đình Bảo Trâm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80760" y="3977640"/>
            <a:ext cx="0" cy="1463040"/>
          </a:xfrm>
          <a:prstGeom prst="line">
            <a:avLst/>
          </a:prstGeom>
          <a:noFill/>
          <a:ln w="12700">
            <a:solidFill>
              <a:srgbClr val="3B46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3950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VIÊN HƯỚNG DẪN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55080" y="4297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Thầy Lý Quang Vinh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VUNIS — Enterprise Agile Task &amp; Project Management 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2026-08-21T16:24:40Z</dcterms:created>
  <dcterms:modified xsi:type="dcterms:W3CDTF">2026-08-21T16:24:40Z</dcterms:modified>
</cp:coreProperties>
</file>